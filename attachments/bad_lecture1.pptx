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9" r:id="rId1"/>
  </p:sldMasterIdLst>
  <p:notesMasterIdLst>
    <p:notesMasterId r:id="rId14"/>
  </p:notesMasterIdLst>
  <p:handoutMasterIdLst>
    <p:handoutMasterId r:id="rId15"/>
  </p:handoutMasterIdLst>
  <p:sldIdLst>
    <p:sldId id="256" r:id="rId2"/>
    <p:sldId id="265" r:id="rId3"/>
    <p:sldId id="257" r:id="rId4"/>
    <p:sldId id="258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</p:sldIdLst>
  <p:sldSz cx="12192000" cy="6858000"/>
  <p:notesSz cx="6858000" cy="9144000"/>
  <p:defaultTextStyle>
    <a:defPPr rtl="0">
      <a:defRPr lang="ru-r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436C6749-F58A-4BDA-9EE9-0A629A160864}">
          <p14:sldIdLst>
            <p14:sldId id="256"/>
            <p14:sldId id="265"/>
          </p14:sldIdLst>
        </p14:section>
        <p14:section name="Раздел без заголовка" id="{24019363-7ACC-4951-AB62-F2D22D0A0F99}">
          <p14:sldIdLst>
            <p14:sldId id="257"/>
            <p14:sldId id="258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29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269538-BFC5-48BB-BEA1-D7AF1F385FD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0D51337A-31FA-4717-B2BF-9243F96D2B9B}">
      <dgm:prSet phldrT="[Text]"/>
      <dgm:spPr/>
      <dgm:t>
        <a:bodyPr rtlCol="0"/>
        <a:lstStyle/>
        <a:p>
          <a:pPr rtl="0"/>
          <a:r>
            <a:rPr lang="ru-RU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ИДЗ 1-7</a:t>
          </a:r>
          <a:endParaRPr lang="ru-RU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9294D65-F371-46C8-A624-E557E9DF1A30}" type="parTrans" cxnId="{9E6BB655-7FE4-4F8D-B1D2-F885E60B8754}">
      <dgm:prSet/>
      <dgm:spPr/>
      <dgm:t>
        <a:bodyPr rtlCol="0"/>
        <a:lstStyle/>
        <a:p>
          <a:pPr rtl="0"/>
          <a:endParaRPr lang="ru-RU" noProof="0" dirty="0"/>
        </a:p>
      </dgm:t>
    </dgm:pt>
    <dgm:pt modelId="{6799645E-F42F-43D8-B2EA-A1377D84D0B3}" type="sibTrans" cxnId="{9E6BB655-7FE4-4F8D-B1D2-F885E60B8754}">
      <dgm:prSet/>
      <dgm:spPr/>
      <dgm:t>
        <a:bodyPr rtlCol="0"/>
        <a:lstStyle/>
        <a:p>
          <a:pPr rtl="0"/>
          <a:endParaRPr lang="ru-RU" noProof="0" dirty="0"/>
        </a:p>
      </dgm:t>
    </dgm:pt>
    <dgm:pt modelId="{E40970FA-9468-4353-8343-FE5E2BEBB8B0}">
      <dgm:prSet phldrT="[Text]" custT="1"/>
      <dgm:spPr/>
      <dgm:t>
        <a:bodyPr rtlCol="0"/>
        <a:lstStyle/>
        <a:p>
          <a:pPr rtl="0"/>
          <a:r>
            <a:rPr lang="ru-RU" sz="24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21 балл (по 3 за каждое)</a:t>
          </a:r>
          <a:endParaRPr lang="ru-RU" sz="24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4FF68DF-CF36-4D12-9ECE-A3519B0AC88A}" type="sibTrans" cxnId="{A316347C-9D1A-43C6-BE2B-DC184440E1C9}">
      <dgm:prSet/>
      <dgm:spPr/>
      <dgm:t>
        <a:bodyPr rtlCol="0"/>
        <a:lstStyle/>
        <a:p>
          <a:pPr rtl="0"/>
          <a:endParaRPr lang="ru-RU" noProof="0" dirty="0"/>
        </a:p>
      </dgm:t>
    </dgm:pt>
    <dgm:pt modelId="{85FA6A33-9FA9-4134-A6A3-A5D4748A1779}" type="parTrans" cxnId="{A316347C-9D1A-43C6-BE2B-DC184440E1C9}">
      <dgm:prSet/>
      <dgm:spPr/>
      <dgm:t>
        <a:bodyPr rtlCol="0"/>
        <a:lstStyle/>
        <a:p>
          <a:pPr rtl="0"/>
          <a:endParaRPr lang="ru-RU" noProof="0" dirty="0"/>
        </a:p>
      </dgm:t>
    </dgm:pt>
    <dgm:pt modelId="{A7F7584C-6CC5-40A2-9566-2842A5DEA97A}">
      <dgm:prSet phldrT="[Text]"/>
      <dgm:spPr/>
      <dgm:t>
        <a:bodyPr rtlCol="0"/>
        <a:lstStyle/>
        <a:p>
          <a:pPr rtl="0"/>
          <a:r>
            <a:rPr lang="ru-RU" b="0" i="0" dirty="0" smtClean="0"/>
            <a:t>Самостоятельные работы № 1–3</a:t>
          </a:r>
          <a:endParaRPr lang="ru-RU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41ED6A4-512C-48AB-901D-671B73446005}" type="sibTrans" cxnId="{F68422C1-CD34-4DED-AA4B-85EFFF4FE933}">
      <dgm:prSet/>
      <dgm:spPr/>
      <dgm:t>
        <a:bodyPr rtlCol="0"/>
        <a:lstStyle/>
        <a:p>
          <a:pPr rtl="0"/>
          <a:endParaRPr lang="ru-RU" noProof="0" dirty="0"/>
        </a:p>
      </dgm:t>
    </dgm:pt>
    <dgm:pt modelId="{581272CD-5908-4C17-8E9B-8BF6DCE43C3E}" type="parTrans" cxnId="{F68422C1-CD34-4DED-AA4B-85EFFF4FE933}">
      <dgm:prSet/>
      <dgm:spPr/>
      <dgm:t>
        <a:bodyPr rtlCol="0"/>
        <a:lstStyle/>
        <a:p>
          <a:pPr rtl="0"/>
          <a:endParaRPr lang="ru-RU" noProof="0" dirty="0"/>
        </a:p>
      </dgm:t>
    </dgm:pt>
    <dgm:pt modelId="{9D8DAFB6-C744-4BD6-B757-393BF647EBB6}">
      <dgm:prSet phldrT="[Text]" custT="1"/>
      <dgm:spPr/>
      <dgm:t>
        <a:bodyPr rtlCol="0"/>
        <a:lstStyle/>
        <a:p>
          <a:pPr rtl="0"/>
          <a:r>
            <a:rPr lang="ru-RU" sz="2400" b="0" i="0" dirty="0" smtClean="0"/>
            <a:t>30 </a:t>
          </a:r>
          <a:r>
            <a:rPr lang="ru-RU" sz="24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баллов</a:t>
          </a:r>
          <a:r>
            <a:rPr lang="ru-RU" sz="2400" b="0" i="0" dirty="0" smtClean="0"/>
            <a:t> (по 10)</a:t>
          </a:r>
          <a:endParaRPr lang="ru-RU" sz="24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C9B44773-68B1-427B-B9CA-0AEA186B621E}" type="sibTrans" cxnId="{56052809-46E4-4445-B520-94004C28BB9D}">
      <dgm:prSet/>
      <dgm:spPr/>
      <dgm:t>
        <a:bodyPr rtlCol="0"/>
        <a:lstStyle/>
        <a:p>
          <a:pPr rtl="0"/>
          <a:endParaRPr lang="ru-RU" noProof="0" dirty="0"/>
        </a:p>
      </dgm:t>
    </dgm:pt>
    <dgm:pt modelId="{17C1C47E-8D1A-404A-B227-B017391CB5F6}" type="parTrans" cxnId="{56052809-46E4-4445-B520-94004C28BB9D}">
      <dgm:prSet/>
      <dgm:spPr/>
      <dgm:t>
        <a:bodyPr rtlCol="0"/>
        <a:lstStyle/>
        <a:p>
          <a:pPr rtl="0"/>
          <a:endParaRPr lang="ru-RU" noProof="0" dirty="0"/>
        </a:p>
      </dgm:t>
    </dgm:pt>
    <dgm:pt modelId="{51A6936C-668E-4912-B1B4-BA2D45D3F624}">
      <dgm:prSet phldrT="[Text]"/>
      <dgm:spPr/>
      <dgm:t>
        <a:bodyPr rtlCol="0"/>
        <a:lstStyle/>
        <a:p>
          <a:pPr rtl="0"/>
          <a:r>
            <a:rPr lang="ru-RU" b="0" i="0" dirty="0" smtClean="0"/>
            <a:t>Кейс-задачи 1–3</a:t>
          </a:r>
          <a:endParaRPr lang="ru-RU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68031D9-E3F9-439E-86FC-2A0A3A3988D0}" type="sibTrans" cxnId="{000FE2BB-9FE6-4965-ADF5-E3E85B644286}">
      <dgm:prSet/>
      <dgm:spPr/>
      <dgm:t>
        <a:bodyPr rtlCol="0"/>
        <a:lstStyle/>
        <a:p>
          <a:pPr rtl="0"/>
          <a:endParaRPr lang="ru-RU" noProof="0" dirty="0"/>
        </a:p>
      </dgm:t>
    </dgm:pt>
    <dgm:pt modelId="{8F7D40F1-9723-47F5-BFD2-340696378D49}" type="parTrans" cxnId="{000FE2BB-9FE6-4965-ADF5-E3E85B644286}">
      <dgm:prSet/>
      <dgm:spPr/>
      <dgm:t>
        <a:bodyPr rtlCol="0"/>
        <a:lstStyle/>
        <a:p>
          <a:pPr rtl="0"/>
          <a:endParaRPr lang="ru-RU" noProof="0" dirty="0"/>
        </a:p>
      </dgm:t>
    </dgm:pt>
    <dgm:pt modelId="{2A9B6C90-9B70-4ED8-9084-8651413BB905}">
      <dgm:prSet phldrT="[Text]" custT="1"/>
      <dgm:spPr/>
      <dgm:t>
        <a:bodyPr rtlCol="0"/>
        <a:lstStyle/>
        <a:p>
          <a:pPr rtl="0"/>
          <a:r>
            <a:rPr lang="ru-RU" sz="2400" b="0" i="0" dirty="0" smtClean="0"/>
            <a:t>12 </a:t>
          </a:r>
          <a:r>
            <a:rPr lang="ru-RU" sz="24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баллов</a:t>
          </a:r>
          <a:r>
            <a:rPr lang="ru-RU" sz="2400" b="0" i="0" dirty="0" smtClean="0"/>
            <a:t> (по 4)</a:t>
          </a:r>
          <a:endParaRPr lang="ru-RU" sz="24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4109FB3-0563-4B2C-BFF0-181E047427F8}" type="sibTrans" cxnId="{1D59D94A-4BF7-417E-B49B-225C005839A9}">
      <dgm:prSet/>
      <dgm:spPr/>
      <dgm:t>
        <a:bodyPr rtlCol="0"/>
        <a:lstStyle/>
        <a:p>
          <a:pPr rtl="0"/>
          <a:endParaRPr lang="ru-RU" noProof="0" dirty="0"/>
        </a:p>
      </dgm:t>
    </dgm:pt>
    <dgm:pt modelId="{47C005B7-F5AA-4111-A87D-782B117A0259}" type="parTrans" cxnId="{1D59D94A-4BF7-417E-B49B-225C005839A9}">
      <dgm:prSet/>
      <dgm:spPr/>
      <dgm:t>
        <a:bodyPr rtlCol="0"/>
        <a:lstStyle/>
        <a:p>
          <a:pPr rtl="0"/>
          <a:endParaRPr lang="ru-RU" noProof="0" dirty="0"/>
        </a:p>
      </dgm:t>
    </dgm:pt>
    <dgm:pt modelId="{928B5CB8-3545-4EE5-8BED-981D3C6157A5}">
      <dgm:prSet phldrT="[Text]"/>
      <dgm:spPr/>
      <dgm:t>
        <a:bodyPr rtlCol="0"/>
        <a:lstStyle/>
        <a:p>
          <a:pPr rtl="0"/>
          <a:r>
            <a:rPr lang="ru-RU" b="0" i="0" dirty="0" smtClean="0"/>
            <a:t>Текущая работа (решение у доски, дискуссии, ошибки на лекциях)</a:t>
          </a:r>
          <a:endParaRPr lang="ru-RU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EF545BA-8D8A-4813-A428-2F18D76E61FA}" type="sibTrans" cxnId="{085D3777-7996-4375-B5FB-BFD96D1BF9E4}">
      <dgm:prSet/>
      <dgm:spPr/>
      <dgm:t>
        <a:bodyPr rtlCol="0"/>
        <a:lstStyle/>
        <a:p>
          <a:pPr rtl="0"/>
          <a:endParaRPr lang="ru-RU" noProof="0" dirty="0"/>
        </a:p>
      </dgm:t>
    </dgm:pt>
    <dgm:pt modelId="{8452F8D0-82FD-4609-B6BD-446E31563D8A}" type="parTrans" cxnId="{085D3777-7996-4375-B5FB-BFD96D1BF9E4}">
      <dgm:prSet/>
      <dgm:spPr/>
      <dgm:t>
        <a:bodyPr rtlCol="0"/>
        <a:lstStyle/>
        <a:p>
          <a:pPr rtl="0"/>
          <a:endParaRPr lang="ru-RU" noProof="0" dirty="0"/>
        </a:p>
      </dgm:t>
    </dgm:pt>
    <dgm:pt modelId="{95A524E6-8A71-49A1-AF74-29696A02028A}">
      <dgm:prSet phldrT="[Text]" custT="1"/>
      <dgm:spPr/>
      <dgm:t>
        <a:bodyPr rtlCol="0"/>
        <a:lstStyle/>
        <a:p>
          <a:pPr rtl="0"/>
          <a:r>
            <a:rPr lang="ru-RU" sz="2400" b="0" i="0" dirty="0" smtClean="0"/>
            <a:t>12 </a:t>
          </a:r>
          <a:r>
            <a:rPr lang="ru-RU" sz="24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баллов</a:t>
          </a:r>
          <a:endParaRPr lang="ru-RU" sz="24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E0C23C2-8A0C-497A-A914-ED60FDCA930F}" type="sibTrans" cxnId="{764A7F40-FC93-4B5E-82E4-B29F920B2D30}">
      <dgm:prSet/>
      <dgm:spPr/>
      <dgm:t>
        <a:bodyPr rtlCol="0"/>
        <a:lstStyle/>
        <a:p>
          <a:pPr rtl="0"/>
          <a:endParaRPr lang="ru-RU" noProof="0" dirty="0"/>
        </a:p>
      </dgm:t>
    </dgm:pt>
    <dgm:pt modelId="{52C86CAF-440B-4BB7-BD46-805908EC2D17}" type="parTrans" cxnId="{764A7F40-FC93-4B5E-82E4-B29F920B2D30}">
      <dgm:prSet/>
      <dgm:spPr/>
      <dgm:t>
        <a:bodyPr rtlCol="0"/>
        <a:lstStyle/>
        <a:p>
          <a:pPr rtl="0"/>
          <a:endParaRPr lang="ru-RU" noProof="0" dirty="0"/>
        </a:p>
      </dgm:t>
    </dgm:pt>
    <dgm:pt modelId="{99FD7F24-5BB9-46E8-BB7C-4B477B73B815}" type="pres">
      <dgm:prSet presAssocID="{81269538-BFC5-48BB-BEA1-D7AF1F385FD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BAB8945-0B00-4547-92CF-AE59FDD0EF39}" type="pres">
      <dgm:prSet presAssocID="{0D51337A-31FA-4717-B2BF-9243F96D2B9B}" presName="linNode" presStyleCnt="0"/>
      <dgm:spPr/>
    </dgm:pt>
    <dgm:pt modelId="{3230722F-B757-4673-BD2F-9D4BAB5CEE8D}" type="pres">
      <dgm:prSet presAssocID="{0D51337A-31FA-4717-B2BF-9243F96D2B9B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FB9694A-6C63-4B23-90F6-4F208C00D399}" type="pres">
      <dgm:prSet presAssocID="{0D51337A-31FA-4717-B2BF-9243F96D2B9B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E4AEBB9-D07D-412D-A9F3-5F50CE85FF20}" type="pres">
      <dgm:prSet presAssocID="{6799645E-F42F-43D8-B2EA-A1377D84D0B3}" presName="sp" presStyleCnt="0"/>
      <dgm:spPr/>
    </dgm:pt>
    <dgm:pt modelId="{C60E4332-AB2E-4201-AF29-E3D9D2CE99DD}" type="pres">
      <dgm:prSet presAssocID="{A7F7584C-6CC5-40A2-9566-2842A5DEA97A}" presName="linNode" presStyleCnt="0"/>
      <dgm:spPr/>
    </dgm:pt>
    <dgm:pt modelId="{8A3FE5E4-2689-4041-B2C5-C63BC276A3EF}" type="pres">
      <dgm:prSet presAssocID="{A7F7584C-6CC5-40A2-9566-2842A5DEA97A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329ECF1A-78BE-41CB-B252-8011825B67CD}" type="pres">
      <dgm:prSet presAssocID="{A7F7584C-6CC5-40A2-9566-2842A5DEA97A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CF97419B-1653-4404-8A25-A4EB2811914A}" type="pres">
      <dgm:prSet presAssocID="{C41ED6A4-512C-48AB-901D-671B73446005}" presName="sp" presStyleCnt="0"/>
      <dgm:spPr/>
    </dgm:pt>
    <dgm:pt modelId="{74B4E996-D144-43FA-9C7B-5183D295C315}" type="pres">
      <dgm:prSet presAssocID="{51A6936C-668E-4912-B1B4-BA2D45D3F624}" presName="linNode" presStyleCnt="0"/>
      <dgm:spPr/>
    </dgm:pt>
    <dgm:pt modelId="{1C763A21-352A-41D1-A2E2-E305DABA275D}" type="pres">
      <dgm:prSet presAssocID="{51A6936C-668E-4912-B1B4-BA2D45D3F624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A66EBD3D-E7C5-421C-B8B5-728648057DDC}" type="pres">
      <dgm:prSet presAssocID="{51A6936C-668E-4912-B1B4-BA2D45D3F624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D3735EA-64D5-44A4-9D60-787BDDA83D1A}" type="pres">
      <dgm:prSet presAssocID="{E68031D9-E3F9-439E-86FC-2A0A3A3988D0}" presName="sp" presStyleCnt="0"/>
      <dgm:spPr/>
    </dgm:pt>
    <dgm:pt modelId="{120DCED0-01FF-429D-8B4B-923E0875F75E}" type="pres">
      <dgm:prSet presAssocID="{928B5CB8-3545-4EE5-8BED-981D3C6157A5}" presName="linNode" presStyleCnt="0"/>
      <dgm:spPr/>
    </dgm:pt>
    <dgm:pt modelId="{B9324B26-5FF5-4FF7-9073-66103CBE8481}" type="pres">
      <dgm:prSet presAssocID="{928B5CB8-3545-4EE5-8BED-981D3C6157A5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95E0557D-F0A1-4F38-8083-55DE7503164F}" type="pres">
      <dgm:prSet presAssocID="{928B5CB8-3545-4EE5-8BED-981D3C6157A5}" presName="descendantText" presStyleLbl="alignAccFollowNode1" presStyleIdx="3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085D3777-7996-4375-B5FB-BFD96D1BF9E4}" srcId="{81269538-BFC5-48BB-BEA1-D7AF1F385FD5}" destId="{928B5CB8-3545-4EE5-8BED-981D3C6157A5}" srcOrd="3" destOrd="0" parTransId="{8452F8D0-82FD-4609-B6BD-446E31563D8A}" sibTransId="{8EF545BA-8D8A-4813-A428-2F18D76E61FA}"/>
    <dgm:cxn modelId="{000FE2BB-9FE6-4965-ADF5-E3E85B644286}" srcId="{81269538-BFC5-48BB-BEA1-D7AF1F385FD5}" destId="{51A6936C-668E-4912-B1B4-BA2D45D3F624}" srcOrd="2" destOrd="0" parTransId="{8F7D40F1-9723-47F5-BFD2-340696378D49}" sibTransId="{E68031D9-E3F9-439E-86FC-2A0A3A3988D0}"/>
    <dgm:cxn modelId="{56052809-46E4-4445-B520-94004C28BB9D}" srcId="{A7F7584C-6CC5-40A2-9566-2842A5DEA97A}" destId="{9D8DAFB6-C744-4BD6-B757-393BF647EBB6}" srcOrd="0" destOrd="0" parTransId="{17C1C47E-8D1A-404A-B227-B017391CB5F6}" sibTransId="{C9B44773-68B1-427B-B9CA-0AEA186B621E}"/>
    <dgm:cxn modelId="{A316347C-9D1A-43C6-BE2B-DC184440E1C9}" srcId="{0D51337A-31FA-4717-B2BF-9243F96D2B9B}" destId="{E40970FA-9468-4353-8343-FE5E2BEBB8B0}" srcOrd="0" destOrd="0" parTransId="{85FA6A33-9FA9-4134-A6A3-A5D4748A1779}" sibTransId="{04FF68DF-CF36-4D12-9ECE-A3519B0AC88A}"/>
    <dgm:cxn modelId="{53988784-A0E1-4D82-B36B-740DE83EB0C9}" type="presOf" srcId="{81269538-BFC5-48BB-BEA1-D7AF1F385FD5}" destId="{99FD7F24-5BB9-46E8-BB7C-4B477B73B815}" srcOrd="0" destOrd="0" presId="urn:microsoft.com/office/officeart/2005/8/layout/vList5"/>
    <dgm:cxn modelId="{A38C1039-CB78-4EBF-844F-7A838983E228}" type="presOf" srcId="{A7F7584C-6CC5-40A2-9566-2842A5DEA97A}" destId="{8A3FE5E4-2689-4041-B2C5-C63BC276A3EF}" srcOrd="0" destOrd="0" presId="urn:microsoft.com/office/officeart/2005/8/layout/vList5"/>
    <dgm:cxn modelId="{C65EFE7A-5430-4917-89D2-D70BAF0289E3}" type="presOf" srcId="{2A9B6C90-9B70-4ED8-9084-8651413BB905}" destId="{A66EBD3D-E7C5-421C-B8B5-728648057DDC}" srcOrd="0" destOrd="0" presId="urn:microsoft.com/office/officeart/2005/8/layout/vList5"/>
    <dgm:cxn modelId="{D51B6075-27E4-4292-9F89-0CC50DF21ED9}" type="presOf" srcId="{51A6936C-668E-4912-B1B4-BA2D45D3F624}" destId="{1C763A21-352A-41D1-A2E2-E305DABA275D}" srcOrd="0" destOrd="0" presId="urn:microsoft.com/office/officeart/2005/8/layout/vList5"/>
    <dgm:cxn modelId="{66EBA0EC-F77C-4ABE-8815-8C8F4F6ACAB5}" type="presOf" srcId="{95A524E6-8A71-49A1-AF74-29696A02028A}" destId="{95E0557D-F0A1-4F38-8083-55DE7503164F}" srcOrd="0" destOrd="0" presId="urn:microsoft.com/office/officeart/2005/8/layout/vList5"/>
    <dgm:cxn modelId="{A44DF6E5-2150-478D-AAB9-24BC6742BCEE}" type="presOf" srcId="{928B5CB8-3545-4EE5-8BED-981D3C6157A5}" destId="{B9324B26-5FF5-4FF7-9073-66103CBE8481}" srcOrd="0" destOrd="0" presId="urn:microsoft.com/office/officeart/2005/8/layout/vList5"/>
    <dgm:cxn modelId="{02B1C3C3-F2D2-4C80-8962-E0C9B39A6EF4}" type="presOf" srcId="{0D51337A-31FA-4717-B2BF-9243F96D2B9B}" destId="{3230722F-B757-4673-BD2F-9D4BAB5CEE8D}" srcOrd="0" destOrd="0" presId="urn:microsoft.com/office/officeart/2005/8/layout/vList5"/>
    <dgm:cxn modelId="{764A7F40-FC93-4B5E-82E4-B29F920B2D30}" srcId="{928B5CB8-3545-4EE5-8BED-981D3C6157A5}" destId="{95A524E6-8A71-49A1-AF74-29696A02028A}" srcOrd="0" destOrd="0" parTransId="{52C86CAF-440B-4BB7-BD46-805908EC2D17}" sibTransId="{EE0C23C2-8A0C-497A-A914-ED60FDCA930F}"/>
    <dgm:cxn modelId="{1D59D94A-4BF7-417E-B49B-225C005839A9}" srcId="{51A6936C-668E-4912-B1B4-BA2D45D3F624}" destId="{2A9B6C90-9B70-4ED8-9084-8651413BB905}" srcOrd="0" destOrd="0" parTransId="{47C005B7-F5AA-4111-A87D-782B117A0259}" sibTransId="{54109FB3-0563-4B2C-BFF0-181E047427F8}"/>
    <dgm:cxn modelId="{993E0796-DCBD-4EB2-9BAB-4437E125DA45}" type="presOf" srcId="{E40970FA-9468-4353-8343-FE5E2BEBB8B0}" destId="{6FB9694A-6C63-4B23-90F6-4F208C00D399}" srcOrd="0" destOrd="0" presId="urn:microsoft.com/office/officeart/2005/8/layout/vList5"/>
    <dgm:cxn modelId="{F68422C1-CD34-4DED-AA4B-85EFFF4FE933}" srcId="{81269538-BFC5-48BB-BEA1-D7AF1F385FD5}" destId="{A7F7584C-6CC5-40A2-9566-2842A5DEA97A}" srcOrd="1" destOrd="0" parTransId="{581272CD-5908-4C17-8E9B-8BF6DCE43C3E}" sibTransId="{C41ED6A4-512C-48AB-901D-671B73446005}"/>
    <dgm:cxn modelId="{6DF17F4D-4120-4DE8-8738-503F2519CD40}" type="presOf" srcId="{9D8DAFB6-C744-4BD6-B757-393BF647EBB6}" destId="{329ECF1A-78BE-41CB-B252-8011825B67CD}" srcOrd="0" destOrd="0" presId="urn:microsoft.com/office/officeart/2005/8/layout/vList5"/>
    <dgm:cxn modelId="{9E6BB655-7FE4-4F8D-B1D2-F885E60B8754}" srcId="{81269538-BFC5-48BB-BEA1-D7AF1F385FD5}" destId="{0D51337A-31FA-4717-B2BF-9243F96D2B9B}" srcOrd="0" destOrd="0" parTransId="{A9294D65-F371-46C8-A624-E557E9DF1A30}" sibTransId="{6799645E-F42F-43D8-B2EA-A1377D84D0B3}"/>
    <dgm:cxn modelId="{45435F90-22A5-4C03-B101-FD4577E8A794}" type="presParOf" srcId="{99FD7F24-5BB9-46E8-BB7C-4B477B73B815}" destId="{BBAB8945-0B00-4547-92CF-AE59FDD0EF39}" srcOrd="0" destOrd="0" presId="urn:microsoft.com/office/officeart/2005/8/layout/vList5"/>
    <dgm:cxn modelId="{B399DCC2-FF40-4D75-A2A7-A495D4AF2387}" type="presParOf" srcId="{BBAB8945-0B00-4547-92CF-AE59FDD0EF39}" destId="{3230722F-B757-4673-BD2F-9D4BAB5CEE8D}" srcOrd="0" destOrd="0" presId="urn:microsoft.com/office/officeart/2005/8/layout/vList5"/>
    <dgm:cxn modelId="{4A0749A4-83B7-4DF9-BA0E-5506B76F10A1}" type="presParOf" srcId="{BBAB8945-0B00-4547-92CF-AE59FDD0EF39}" destId="{6FB9694A-6C63-4B23-90F6-4F208C00D399}" srcOrd="1" destOrd="0" presId="urn:microsoft.com/office/officeart/2005/8/layout/vList5"/>
    <dgm:cxn modelId="{26C2F444-58E5-4B3C-A169-EBC64ABE0EE9}" type="presParOf" srcId="{99FD7F24-5BB9-46E8-BB7C-4B477B73B815}" destId="{3E4AEBB9-D07D-412D-A9F3-5F50CE85FF20}" srcOrd="1" destOrd="0" presId="urn:microsoft.com/office/officeart/2005/8/layout/vList5"/>
    <dgm:cxn modelId="{FB2D3183-70C6-44DD-875A-CC09A2C89FEB}" type="presParOf" srcId="{99FD7F24-5BB9-46E8-BB7C-4B477B73B815}" destId="{C60E4332-AB2E-4201-AF29-E3D9D2CE99DD}" srcOrd="2" destOrd="0" presId="urn:microsoft.com/office/officeart/2005/8/layout/vList5"/>
    <dgm:cxn modelId="{B9D84324-BE5B-4514-8201-6B25BE814C19}" type="presParOf" srcId="{C60E4332-AB2E-4201-AF29-E3D9D2CE99DD}" destId="{8A3FE5E4-2689-4041-B2C5-C63BC276A3EF}" srcOrd="0" destOrd="0" presId="urn:microsoft.com/office/officeart/2005/8/layout/vList5"/>
    <dgm:cxn modelId="{62F196CC-DD4E-41F1-95F6-0E80E18CA40A}" type="presParOf" srcId="{C60E4332-AB2E-4201-AF29-E3D9D2CE99DD}" destId="{329ECF1A-78BE-41CB-B252-8011825B67CD}" srcOrd="1" destOrd="0" presId="urn:microsoft.com/office/officeart/2005/8/layout/vList5"/>
    <dgm:cxn modelId="{902C8576-A8E1-4C1E-B647-4F0EFC878EDE}" type="presParOf" srcId="{99FD7F24-5BB9-46E8-BB7C-4B477B73B815}" destId="{CF97419B-1653-4404-8A25-A4EB2811914A}" srcOrd="3" destOrd="0" presId="urn:microsoft.com/office/officeart/2005/8/layout/vList5"/>
    <dgm:cxn modelId="{C0AE58B2-3BCF-4A17-9962-82AF5DB00A66}" type="presParOf" srcId="{99FD7F24-5BB9-46E8-BB7C-4B477B73B815}" destId="{74B4E996-D144-43FA-9C7B-5183D295C315}" srcOrd="4" destOrd="0" presId="urn:microsoft.com/office/officeart/2005/8/layout/vList5"/>
    <dgm:cxn modelId="{CC23B1CA-2592-479D-988C-BB870D7E9EC9}" type="presParOf" srcId="{74B4E996-D144-43FA-9C7B-5183D295C315}" destId="{1C763A21-352A-41D1-A2E2-E305DABA275D}" srcOrd="0" destOrd="0" presId="urn:microsoft.com/office/officeart/2005/8/layout/vList5"/>
    <dgm:cxn modelId="{477107E6-023C-4B3F-96EF-D2D5DA516C5C}" type="presParOf" srcId="{74B4E996-D144-43FA-9C7B-5183D295C315}" destId="{A66EBD3D-E7C5-421C-B8B5-728648057DDC}" srcOrd="1" destOrd="0" presId="urn:microsoft.com/office/officeart/2005/8/layout/vList5"/>
    <dgm:cxn modelId="{933347A6-BCAF-495A-96A7-208A97A1751A}" type="presParOf" srcId="{99FD7F24-5BB9-46E8-BB7C-4B477B73B815}" destId="{4D3735EA-64D5-44A4-9D60-787BDDA83D1A}" srcOrd="5" destOrd="0" presId="urn:microsoft.com/office/officeart/2005/8/layout/vList5"/>
    <dgm:cxn modelId="{677D4939-AE22-4645-A75D-BD07DA38E78F}" type="presParOf" srcId="{99FD7F24-5BB9-46E8-BB7C-4B477B73B815}" destId="{120DCED0-01FF-429D-8B4B-923E0875F75E}" srcOrd="6" destOrd="0" presId="urn:microsoft.com/office/officeart/2005/8/layout/vList5"/>
    <dgm:cxn modelId="{AF6385C2-1319-4602-9D19-9A89E6EBF57F}" type="presParOf" srcId="{120DCED0-01FF-429D-8B4B-923E0875F75E}" destId="{B9324B26-5FF5-4FF7-9073-66103CBE8481}" srcOrd="0" destOrd="0" presId="urn:microsoft.com/office/officeart/2005/8/layout/vList5"/>
    <dgm:cxn modelId="{16466152-551A-417E-9EB3-4C0FC3867902}" type="presParOf" srcId="{120DCED0-01FF-429D-8B4B-923E0875F75E}" destId="{95E0557D-F0A1-4F38-8083-55DE7503164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B9694A-6C63-4B23-90F6-4F208C00D399}">
      <dsp:nvSpPr>
        <dsp:cNvPr id="0" name=""/>
        <dsp:cNvSpPr/>
      </dsp:nvSpPr>
      <dsp:spPr>
        <a:xfrm rot="5400000">
          <a:off x="6395051" y="-2741862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kern="12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21 балл (по 3 за каждое)</a:t>
          </a:r>
          <a:endParaRPr lang="ru-RU" sz="2400" kern="12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20324"/>
        <a:ext cx="6306545" cy="615466"/>
      </dsp:txXfrm>
    </dsp:sp>
    <dsp:sp modelId="{3230722F-B757-4673-BD2F-9D4BAB5CEE8D}">
      <dsp:nvSpPr>
        <dsp:cNvPr id="0" name=""/>
        <dsp:cNvSpPr/>
      </dsp:nvSpPr>
      <dsp:spPr>
        <a:xfrm>
          <a:off x="0" y="1772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rtlCol="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700" kern="12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ИДЗ 1-7</a:t>
          </a:r>
          <a:endParaRPr lang="ru-RU" sz="1700" kern="12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43391"/>
        <a:ext cx="3482922" cy="769332"/>
      </dsp:txXfrm>
    </dsp:sp>
    <dsp:sp modelId="{329ECF1A-78BE-41CB-B252-8011825B67CD}">
      <dsp:nvSpPr>
        <dsp:cNvPr id="0" name=""/>
        <dsp:cNvSpPr/>
      </dsp:nvSpPr>
      <dsp:spPr>
        <a:xfrm rot="5400000">
          <a:off x="6395051" y="-1846663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b="0" i="0" kern="1200" dirty="0" smtClean="0"/>
            <a:t>30 </a:t>
          </a:r>
          <a:r>
            <a:rPr lang="ru-RU" sz="2400" kern="12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баллов</a:t>
          </a:r>
          <a:r>
            <a:rPr lang="ru-RU" sz="2400" b="0" i="0" kern="1200" dirty="0" smtClean="0"/>
            <a:t> (по 10)</a:t>
          </a:r>
          <a:endParaRPr lang="ru-RU" sz="2400" kern="12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015523"/>
        <a:ext cx="6306545" cy="615466"/>
      </dsp:txXfrm>
    </dsp:sp>
    <dsp:sp modelId="{8A3FE5E4-2689-4041-B2C5-C63BC276A3EF}">
      <dsp:nvSpPr>
        <dsp:cNvPr id="0" name=""/>
        <dsp:cNvSpPr/>
      </dsp:nvSpPr>
      <dsp:spPr>
        <a:xfrm>
          <a:off x="0" y="896971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rtlCol="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700" b="0" i="0" kern="1200" dirty="0" smtClean="0"/>
            <a:t>Самостоятельные работы № 1–3</a:t>
          </a:r>
          <a:endParaRPr lang="ru-RU" sz="1700" kern="12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938590"/>
        <a:ext cx="3482922" cy="769332"/>
      </dsp:txXfrm>
    </dsp:sp>
    <dsp:sp modelId="{A66EBD3D-E7C5-421C-B8B5-728648057DDC}">
      <dsp:nvSpPr>
        <dsp:cNvPr id="0" name=""/>
        <dsp:cNvSpPr/>
      </dsp:nvSpPr>
      <dsp:spPr>
        <a:xfrm rot="5400000">
          <a:off x="6395051" y="-951464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b="0" i="0" kern="1200" dirty="0" smtClean="0"/>
            <a:t>12 </a:t>
          </a:r>
          <a:r>
            <a:rPr lang="ru-RU" sz="2400" kern="12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баллов</a:t>
          </a:r>
          <a:r>
            <a:rPr lang="ru-RU" sz="2400" b="0" i="0" kern="1200" dirty="0" smtClean="0"/>
            <a:t> (по 4)</a:t>
          </a:r>
          <a:endParaRPr lang="ru-RU" sz="2400" kern="12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910722"/>
        <a:ext cx="6306545" cy="615466"/>
      </dsp:txXfrm>
    </dsp:sp>
    <dsp:sp modelId="{1C763A21-352A-41D1-A2E2-E305DABA275D}">
      <dsp:nvSpPr>
        <dsp:cNvPr id="0" name=""/>
        <dsp:cNvSpPr/>
      </dsp:nvSpPr>
      <dsp:spPr>
        <a:xfrm>
          <a:off x="0" y="1792170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rtlCol="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700" b="0" i="0" kern="1200" dirty="0" smtClean="0"/>
            <a:t>Кейс-задачи 1–3</a:t>
          </a:r>
          <a:endParaRPr lang="ru-RU" sz="1700" kern="12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1833789"/>
        <a:ext cx="3482922" cy="769332"/>
      </dsp:txXfrm>
    </dsp:sp>
    <dsp:sp modelId="{95E0557D-F0A1-4F38-8083-55DE7503164F}">
      <dsp:nvSpPr>
        <dsp:cNvPr id="0" name=""/>
        <dsp:cNvSpPr/>
      </dsp:nvSpPr>
      <dsp:spPr>
        <a:xfrm rot="5400000">
          <a:off x="6395051" y="-56265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2400" b="0" i="0" kern="1200" dirty="0" smtClean="0"/>
            <a:t>12 </a:t>
          </a:r>
          <a:r>
            <a:rPr lang="ru-RU" sz="2400" kern="1200" noProof="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 баллов</a:t>
          </a:r>
          <a:endParaRPr lang="ru-RU" sz="2400" kern="12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2805921"/>
        <a:ext cx="6306545" cy="615466"/>
      </dsp:txXfrm>
    </dsp:sp>
    <dsp:sp modelId="{B9324B26-5FF5-4FF7-9073-66103CBE8481}">
      <dsp:nvSpPr>
        <dsp:cNvPr id="0" name=""/>
        <dsp:cNvSpPr/>
      </dsp:nvSpPr>
      <dsp:spPr>
        <a:xfrm>
          <a:off x="0" y="2687369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32385" rIns="64770" bIns="32385" numCol="1" spcCol="1270" rtlCol="0" anchor="ctr" anchorCtr="0">
          <a:noAutofit/>
        </a:bodyPr>
        <a:lstStyle/>
        <a:p>
          <a:pPr lvl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700" b="0" i="0" kern="1200" dirty="0" smtClean="0"/>
            <a:t>Текущая работа (решение у доски, дискуссии, ошибки на лекциях)</a:t>
          </a:r>
          <a:endParaRPr lang="ru-RU" sz="1700" kern="1200" noProof="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2728988"/>
        <a:ext cx="3482922" cy="7693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73ADEA3-BDE8-4D1D-AF73-CFA8B5AACDC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0328C66-E093-4302-BED5-3FD17E7E4DA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0DD723-0EE9-4F5A-9809-011A94163006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07835DA-5BBD-4109-9A97-F1999DC1DEE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E81EC23-D1C6-4321-9739-FFB6082E3F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31134-5B43-480E-9686-F52F0CC4C4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2043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CB85A-9F4C-467C-BBC1-4148B3820FEE}" type="datetimeFigureOut">
              <a:rPr lang="ru-RU" smtClean="0"/>
              <a:t>31.08.2026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49E11B-5CCD-42F0-AB9E-0E05259F23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970845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030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8597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9958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5788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53574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54206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98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957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22727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7072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04074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9E11B-5CCD-42F0-AB9E-0E05259F23D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032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Рисунок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Группа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Прямоугольник 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Полилиния 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Полилиния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Прямоугольник 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Полилиния 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Полилиния 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Полилиния 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Полилиния 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Полилиния 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Полилиния 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Полилиния 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Полилиния 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Полилиния 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Полилиния 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Полилиния 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Полилиния 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Полилиния 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Полилиния 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Полилиния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Полилиния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Полилиния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Полилиния 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Полилиния 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Полилиния 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Полилиния 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Полилиния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Полилиния 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Полилиния 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Прямоугольник 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Полилиния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Полилиния 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Полилиния 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Полилиния 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Полилиния 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Полилиния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Полилиния 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Полилиния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Полилиния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Полилиния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Полилиния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Прямоугольник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Полилиния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Полилиния 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Полилиния 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Полилиния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Полилиния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Полилиния 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Полилиния 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Полилиния 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Полилиния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Полилиния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Полилиния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Полилиния 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Полилиния 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smtClean="0"/>
              <a:t>Образец подзаголовка</a:t>
            </a:r>
            <a:endParaRPr lang="ru-RU" noProof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F93CC216-A18A-438E-8EF6-39B4E0F83FD3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Объект 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28AF8F4-EEAC-48FC-BD7A-6D09179D6FDF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1559DE8-968F-4A00-8FD7-283C487F6584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Объект 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/>
          </a:p>
        </p:txBody>
      </p:sp>
      <p:sp>
        <p:nvSpPr>
          <p:cNvPr id="4" name="Объект 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6B677C-A60A-4360-BE42-8997690B3F2F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Текст 2"/>
          <p:cNvSpPr>
            <a:spLocks noGrp="1"/>
          </p:cNvSpPr>
          <p:nvPr>
            <p:ph type="body" idx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4" name="Объект 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/>
          </a:p>
        </p:txBody>
      </p:sp>
      <p:sp>
        <p:nvSpPr>
          <p:cNvPr id="5" name="Текст 4"/>
          <p:cNvSpPr>
            <a:spLocks noGrp="1"/>
          </p:cNvSpPr>
          <p:nvPr>
            <p:ph type="body" sz="quarter" idx="3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6" name="Объект 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9794EFB-DEF6-4B80-A8B7-4E4D4E37AAB4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9F6FD7-52B3-41D3-8591-A9953FD26929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81F4ED1-97C9-4FA0-9AAA-87D40621B20E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4" name="Номер слайда 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Объект 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/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04BAF63-103A-4E0E-A5E9-9774B4D78592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ru-RU" noProof="0"/>
              <a:t>Щелкните значок, чтобы добавить изображение</a:t>
            </a:r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EEDF88-D9FC-468B-8F4F-FCB6D7F43658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ый 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ru-RU" noProof="0"/>
              <a:t>Щелкните значок, чтобы добавить изображение</a:t>
            </a:r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83EE243-A3CC-484C-99B4-56A66441661B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7BA4EB-60FA-41F8-85FB-056D2A6FFB9A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12" name="Текст 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AE1041-C137-4F5D-9250-D0191CFF8B80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  <p:sp>
        <p:nvSpPr>
          <p:cNvPr id="60" name="Надпись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ru-RU" sz="8000" noProof="0">
                <a:solidFill>
                  <a:schemeClr val="tx1"/>
                </a:solidFill>
                <a:effectLst/>
              </a:rPr>
              <a:t>«</a:t>
            </a:r>
          </a:p>
        </p:txBody>
      </p:sp>
      <p:sp>
        <p:nvSpPr>
          <p:cNvPr id="61" name="Надпись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ru-RU" sz="8000" noProof="0">
                <a:solidFill>
                  <a:schemeClr val="tx1"/>
                </a:solidFill>
                <a:effectLst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4" name="Текст 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2403AD2-C287-45A3-8E92-BAB32C31951E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столб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 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7" name="Текст 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8" name="Текст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9" name="Текст 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11" name="Текст 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12" name="Текст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27804A-14BC-4473-AB42-FC19B8BD3EA6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Заголовок 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19" name="Текст 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20" name="Рисунок 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ru-RU" noProof="0"/>
              <a:t>Щелкните значок, чтобы добавить изображение</a:t>
            </a:r>
          </a:p>
        </p:txBody>
      </p:sp>
      <p:sp>
        <p:nvSpPr>
          <p:cNvPr id="21" name="Текст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22" name="Текст 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23" name="Рисунок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ru-RU" noProof="0"/>
              <a:t>Щелкните значок, чтобы добавить изображение</a:t>
            </a:r>
          </a:p>
        </p:txBody>
      </p:sp>
      <p:sp>
        <p:nvSpPr>
          <p:cNvPr id="24" name="Текст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25" name="Текст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26" name="Рисунок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ru-RU" noProof="0"/>
              <a:t>Щелкните значок, чтобы добавить изображение</a:t>
            </a:r>
          </a:p>
        </p:txBody>
      </p:sp>
      <p:sp>
        <p:nvSpPr>
          <p:cNvPr id="27" name="Текст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smtClean="0"/>
              <a:t>Образец текста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72F7F72-644B-4DD8-B0D7-0D6BFCDEA7D4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Вертикальный текст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268D65D-DFBA-4D95-AC3A-FE389EC12A6A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ru-RU" noProof="0" smtClean="0"/>
              <a:t>Образец заголовка</a:t>
            </a:r>
            <a:endParaRPr lang="ru-RU" noProof="0"/>
          </a:p>
        </p:txBody>
      </p:sp>
      <p:sp>
        <p:nvSpPr>
          <p:cNvPr id="3" name="Вертикальный текст 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ru-RU" noProof="0" smtClean="0"/>
              <a:t>Образец текста</a:t>
            </a:r>
          </a:p>
          <a:p>
            <a:pPr lvl="1" rtl="0"/>
            <a:r>
              <a:rPr lang="ru-RU" noProof="0" smtClean="0"/>
              <a:t>Второй уровень</a:t>
            </a:r>
          </a:p>
          <a:p>
            <a:pPr lvl="2" rtl="0"/>
            <a:r>
              <a:rPr lang="ru-RU" noProof="0" smtClean="0"/>
              <a:t>Третий уровень</a:t>
            </a:r>
          </a:p>
          <a:p>
            <a:pPr lvl="3" rtl="0"/>
            <a:r>
              <a:rPr lang="ru-RU" noProof="0" smtClean="0"/>
              <a:t>Четвертый уровень</a:t>
            </a:r>
          </a:p>
          <a:p>
            <a:pPr lvl="4" rtl="0"/>
            <a:r>
              <a:rPr lang="ru-RU" noProof="0" smtClean="0"/>
              <a:t>Пятый уровень</a:t>
            </a:r>
            <a:endParaRPr lang="ru-RU" noProof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3F20EF-3479-4786-8FAD-EC9DB99F18C6}" type="datetime1">
              <a:rPr lang="ru-RU" noProof="0" smtClean="0"/>
              <a:t>31.08.2026</a:t>
            </a:fld>
            <a:endParaRPr lang="ru-RU" noProof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ru-RU" noProof="0" smtClean="0"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Группа 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Группа 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Прямоугольник 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Полилиния 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Полилиния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Полилиния 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Полилиния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Полилиния 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Полилиния 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Полилиния 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Полилиния 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Полилиния 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Полилиния 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Линия 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Полилиния 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Полилиния 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Полилиния 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Полилиния 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Прямоугольник 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Полилиния 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Полилиния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Полилиния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Полилиния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Полилиния 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Полилиния 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Полилиния 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Полилиния 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Полилиния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Полилиния 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Группа 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Полилиния 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Полилиния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Полилиния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Полилиния 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Полилиния 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Полилиния 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Полилиния 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Полилиния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Полилиния 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Прямоугольник 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ru-RU" noProof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9638E856-17B3-4016-83AA-035F0EADC1E6}" type="datetime1">
              <a:rPr lang="ru-RU" noProof="0" smtClean="0"/>
              <a:t>31.08.2026</a:t>
            </a:fld>
            <a:endParaRPr lang="ru-RU" noProof="0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ru-RU" noProof="0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ru-RU" noProof="0" smtClean="0"/>
              <a:pPr/>
              <a:t>‹#›</a:t>
            </a:fld>
            <a:endParaRPr lang="ru-RU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algn="ctr"/>
            <a:r>
              <a:rPr lang="ru-RU" dirty="0"/>
              <a:t>Теория вероятностей</a:t>
            </a:r>
            <a:endParaRPr lang="ru-RU" sz="5400" dirty="0">
              <a:latin typeface="Rockwell" panose="02060603020205020403" pitchFamily="18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algn="ctr"/>
            <a:r>
              <a:rPr lang="ru-RU" dirty="0"/>
              <a:t>Лекция № 1. Комбинаторика и определения 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6424" y="1946246"/>
            <a:ext cx="8791575" cy="3311554"/>
          </a:xfrm>
        </p:spPr>
        <p:txBody>
          <a:bodyPr rtlCol="0">
            <a:normAutofit/>
          </a:bodyPr>
          <a:lstStyle/>
          <a:p>
            <a:pPr algn="ctr"/>
            <a:r>
              <a:rPr lang="ru-RU" b="1" dirty="0"/>
              <a:t>Теория вероятностей</a:t>
            </a:r>
            <a:r>
              <a:rPr lang="ru-RU" dirty="0"/>
              <a:t> — это раздел математики, который изучает случайные события и помогает оценить, насколько вероятно наступление того или иного исхода. Она позволяет переводить неопределённость в числа и работать с ней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958201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ru-RU" sz="4400" dirty="0" smtClean="0">
                <a:latin typeface="Rockwell" panose="02060603020205020403" pitchFamily="18" charset="0"/>
              </a:rPr>
              <a:t>Как оно будет?</a:t>
            </a:r>
            <a:endParaRPr lang="ru-RU" sz="4400" dirty="0">
              <a:latin typeface="Rockwell" panose="02060603020205020403" pitchFamily="18" charset="0"/>
            </a:endParaRP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8D4F1745-A55E-4835-88EB-BC637121B60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9766497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3689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ru-RU" sz="4400" dirty="0" smtClean="0">
                <a:latin typeface="Rockwell" panose="02060603020205020403" pitchFamily="18" charset="0"/>
              </a:rPr>
              <a:t>Вопросы</a:t>
            </a:r>
            <a:endParaRPr lang="ru-RU" sz="4400" dirty="0">
              <a:latin typeface="Rockwell" panose="02060603020205020403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r>
              <a:rPr lang="ru-RU" b="1" dirty="0"/>
              <a:t>Вопрос 1:</a:t>
            </a:r>
            <a:r>
              <a:rPr lang="ru-RU" dirty="0"/>
              <a:t> Сколько PIN-кодов из 4 цифр</a:t>
            </a:r>
            <a:r>
              <a:rPr lang="ru-RU" dirty="0" smtClean="0"/>
              <a:t>?</a:t>
            </a:r>
          </a:p>
          <a:p>
            <a:r>
              <a:rPr lang="ru-RU" b="1" dirty="0" smtClean="0"/>
              <a:t>Вопрос </a:t>
            </a:r>
            <a:r>
              <a:rPr lang="ru-RU" b="1" dirty="0"/>
              <a:t>2:</a:t>
            </a:r>
            <a:r>
              <a:rPr lang="ru-RU" dirty="0"/>
              <a:t> Сколько подмножеств признаков из 20</a:t>
            </a:r>
            <a:r>
              <a:rPr lang="ru-RU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ru-RU" b="1" dirty="0"/>
              <a:t> Основные понятия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 fontScale="85000" lnSpcReduction="20000"/>
          </a:bodyPr>
          <a:lstStyle/>
          <a:p>
            <a:r>
              <a:rPr lang="ru-RU" b="1" dirty="0"/>
              <a:t>Испытание</a:t>
            </a:r>
            <a:r>
              <a:rPr lang="ru-RU" dirty="0"/>
              <a:t> – воспроизводимая процедура с неизвестным результатом</a:t>
            </a:r>
          </a:p>
          <a:p>
            <a:r>
              <a:rPr lang="ru-RU" b="1" dirty="0"/>
              <a:t>Событие</a:t>
            </a:r>
            <a:r>
              <a:rPr lang="ru-RU" dirty="0"/>
              <a:t> – любой результат испытания (</a:t>
            </a:r>
            <a:r>
              <a:rPr lang="ru-RU" dirty="0" smtClean="0"/>
              <a:t>A,B,C)</a:t>
            </a:r>
            <a:endParaRPr lang="ru-RU" dirty="0"/>
          </a:p>
          <a:p>
            <a:r>
              <a:rPr lang="ru-RU" b="1" dirty="0"/>
              <a:t>Элементарный исход</a:t>
            </a:r>
            <a:r>
              <a:rPr lang="ru-RU" dirty="0"/>
              <a:t> (</a:t>
            </a:r>
            <a:r>
              <a:rPr lang="ru-RU" dirty="0" smtClean="0"/>
              <a:t>ω) </a:t>
            </a:r>
            <a:r>
              <a:rPr lang="ru-RU" dirty="0"/>
              <a:t>– неделимый результат</a:t>
            </a:r>
          </a:p>
          <a:p>
            <a:r>
              <a:rPr lang="ru-RU" b="1" dirty="0"/>
              <a:t>Пространство исходов</a:t>
            </a:r>
            <a:r>
              <a:rPr lang="ru-RU" dirty="0"/>
              <a:t> (</a:t>
            </a:r>
            <a:r>
              <a:rPr lang="ru-RU" dirty="0" smtClean="0"/>
              <a:t>Ω) </a:t>
            </a:r>
            <a:r>
              <a:rPr lang="ru-RU" dirty="0"/>
              <a:t>– множество всех элементарных исходов</a:t>
            </a:r>
          </a:p>
          <a:p>
            <a:r>
              <a:rPr lang="ru-RU" b="1" dirty="0"/>
              <a:t>Благоприятствующий исход</a:t>
            </a:r>
            <a:r>
              <a:rPr lang="ru-RU" dirty="0"/>
              <a:t> – исход, при котором событие происходит</a:t>
            </a:r>
          </a:p>
          <a:p>
            <a:r>
              <a:rPr lang="ru-RU" b="1" dirty="0"/>
              <a:t>Примеры</a:t>
            </a:r>
            <a:r>
              <a:rPr lang="ru-RU" b="1" dirty="0" smtClean="0"/>
              <a:t>:</a:t>
            </a:r>
          </a:p>
          <a:p>
            <a:r>
              <a:rPr lang="ru-RU" dirty="0" smtClean="0"/>
              <a:t>Кость</a:t>
            </a:r>
            <a:r>
              <a:rPr lang="ru-RU" dirty="0"/>
              <a:t>: </a:t>
            </a:r>
            <a:r>
              <a:rPr lang="ru-RU" dirty="0" smtClean="0"/>
              <a:t>Ω</a:t>
            </a:r>
            <a:r>
              <a:rPr lang="ru-RU" dirty="0"/>
              <a:t>={1,2,3,4,5,6</a:t>
            </a:r>
            <a:r>
              <a:rPr lang="ru-RU" dirty="0" smtClean="0"/>
              <a:t>}</a:t>
            </a:r>
          </a:p>
          <a:p>
            <a:r>
              <a:rPr lang="ru-RU" dirty="0" smtClean="0"/>
              <a:t>Две </a:t>
            </a:r>
            <a:r>
              <a:rPr lang="ru-RU" dirty="0"/>
              <a:t>монеты: Ω={ОО,ОР,РО,РР</a:t>
            </a:r>
            <a:r>
              <a:rPr lang="ru-RU" dirty="0" smtClean="0"/>
              <a:t>}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8285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ru-RU" b="1" dirty="0"/>
              <a:t>Классификация событий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730284"/>
              </p:ext>
            </p:extLst>
          </p:nvPr>
        </p:nvGraphicFramePr>
        <p:xfrm>
          <a:off x="1291907" y="1711355"/>
          <a:ext cx="7914045" cy="4107439"/>
        </p:xfrm>
        <a:graphic>
          <a:graphicData uri="http://schemas.openxmlformats.org/drawingml/2006/table">
            <a:tbl>
              <a:tblPr/>
              <a:tblGrid>
                <a:gridCol w="2638015">
                  <a:extLst>
                    <a:ext uri="{9D8B030D-6E8A-4147-A177-3AD203B41FA5}">
                      <a16:colId xmlns:a16="http://schemas.microsoft.com/office/drawing/2014/main" val="2044544796"/>
                    </a:ext>
                  </a:extLst>
                </a:gridCol>
                <a:gridCol w="2638015">
                  <a:extLst>
                    <a:ext uri="{9D8B030D-6E8A-4147-A177-3AD203B41FA5}">
                      <a16:colId xmlns:a16="http://schemas.microsoft.com/office/drawing/2014/main" val="781682169"/>
                    </a:ext>
                  </a:extLst>
                </a:gridCol>
                <a:gridCol w="2638015">
                  <a:extLst>
                    <a:ext uri="{9D8B030D-6E8A-4147-A177-3AD203B41FA5}">
                      <a16:colId xmlns:a16="http://schemas.microsoft.com/office/drawing/2014/main" val="2992536267"/>
                    </a:ext>
                  </a:extLst>
                </a:gridCol>
              </a:tblGrid>
              <a:tr h="467441">
                <a:tc>
                  <a:txBody>
                    <a:bodyPr/>
                    <a:lstStyle/>
                    <a:p>
                      <a:pPr algn="l"/>
                      <a:r>
                        <a:rPr lang="ru-RU" sz="1600" b="0" dirty="0">
                          <a:effectLst/>
                          <a:latin typeface="quote-cjk-patch"/>
                        </a:rPr>
                        <a:t>Вид</a:t>
                      </a:r>
                    </a:p>
                  </a:txBody>
                  <a:tcPr marL="7944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0" dirty="0" smtClean="0">
                          <a:effectLst/>
                          <a:latin typeface="quote-cjk-patch"/>
                        </a:rPr>
                        <a:t>Обозначение</a:t>
                      </a:r>
                      <a:endParaRPr lang="ru-RU" sz="1600" b="0" dirty="0">
                        <a:effectLst/>
                        <a:latin typeface="quote-cjk-patch"/>
                      </a:endParaRPr>
                    </a:p>
                  </a:txBody>
                  <a:tcPr marL="13240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0">
                          <a:effectLst/>
                          <a:latin typeface="quote-cjk-patch"/>
                        </a:rPr>
                        <a:t>Пример</a:t>
                      </a:r>
                    </a:p>
                  </a:txBody>
                  <a:tcPr marL="13240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438223"/>
                  </a:ext>
                </a:extLst>
              </a:tr>
              <a:tr h="467441"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Достоверное</a:t>
                      </a:r>
                    </a:p>
                  </a:txBody>
                  <a:tcPr marL="7944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l-GR" sz="1600" b="0" dirty="0" smtClean="0">
                          <a:effectLst/>
                          <a:latin typeface="KaTeX_Main"/>
                        </a:rPr>
                        <a:t>Ω</a:t>
                      </a:r>
                      <a:endParaRPr lang="el-GR" sz="1600" b="0" dirty="0">
                        <a:effectLst/>
                        <a:latin typeface="quote-cjk-patch"/>
                      </a:endParaRPr>
                    </a:p>
                  </a:txBody>
                  <a:tcPr marL="13240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«выпало 1…6»</a:t>
                      </a:r>
                    </a:p>
                  </a:txBody>
                  <a:tcPr marL="132400" marR="7944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7909723"/>
                  </a:ext>
                </a:extLst>
              </a:tr>
              <a:tr h="467441"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Невозможное</a:t>
                      </a:r>
                    </a:p>
                  </a:txBody>
                  <a:tcPr marL="7944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 smtClean="0">
                          <a:effectLst/>
                          <a:latin typeface="KaTeX_Main"/>
                        </a:rPr>
                        <a:t>∅</a:t>
                      </a:r>
                      <a:endParaRPr lang="ru-RU" sz="1600" b="0" dirty="0">
                        <a:effectLst/>
                        <a:latin typeface="quote-cjk-patch"/>
                      </a:endParaRPr>
                    </a:p>
                  </a:txBody>
                  <a:tcPr marL="13240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«выпало 7»</a:t>
                      </a:r>
                    </a:p>
                  </a:txBody>
                  <a:tcPr marL="132400" marR="7944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19551"/>
                  </a:ext>
                </a:extLst>
              </a:tr>
              <a:tr h="467441"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Совместные</a:t>
                      </a:r>
                    </a:p>
                  </a:txBody>
                  <a:tcPr marL="7944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KaTeX_Main"/>
                        </a:rPr>
                        <a:t>A∩B</a:t>
                      </a:r>
                      <a:r>
                        <a:rPr lang="en-US" sz="1600" b="0" dirty="0" smtClean="0">
                          <a:effectLst/>
                          <a:latin typeface="KaTeX_Main"/>
                        </a:rPr>
                        <a:t>≠∅</a:t>
                      </a:r>
                      <a:endParaRPr lang="en-US" sz="1600" b="0" dirty="0">
                        <a:effectLst/>
                        <a:latin typeface="quote-cjk-patch"/>
                      </a:endParaRPr>
                    </a:p>
                  </a:txBody>
                  <a:tcPr marL="13240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«чётное» и «&gt;3»</a:t>
                      </a:r>
                    </a:p>
                  </a:txBody>
                  <a:tcPr marL="132400" marR="7944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8895457"/>
                  </a:ext>
                </a:extLst>
              </a:tr>
              <a:tr h="467441"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Несовместные</a:t>
                      </a:r>
                    </a:p>
                  </a:txBody>
                  <a:tcPr marL="7944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effectLst/>
                          <a:latin typeface="KaTeX_Main"/>
                        </a:rPr>
                        <a:t>A∩B=</a:t>
                      </a:r>
                      <a:r>
                        <a:rPr lang="en-US" sz="1600" b="0" dirty="0" smtClean="0">
                          <a:effectLst/>
                          <a:latin typeface="KaTeX_Main"/>
                        </a:rPr>
                        <a:t>∅</a:t>
                      </a:r>
                      <a:endParaRPr lang="en-US" sz="1600" b="0" dirty="0">
                        <a:effectLst/>
                        <a:latin typeface="quote-cjk-patch"/>
                      </a:endParaRPr>
                    </a:p>
                  </a:txBody>
                  <a:tcPr marL="13240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«2» и «5»</a:t>
                      </a:r>
                    </a:p>
                  </a:txBody>
                  <a:tcPr marL="132400" marR="7944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863758"/>
                  </a:ext>
                </a:extLst>
              </a:tr>
              <a:tr h="745892"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Противоположные</a:t>
                      </a:r>
                    </a:p>
                  </a:txBody>
                  <a:tcPr marL="7944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800" b="0" i="1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</a:t>
                      </a:r>
                      <a:endParaRPr lang="en-US" sz="1600" b="0" dirty="0">
                        <a:effectLst/>
                        <a:latin typeface="quote-cjk-patch"/>
                      </a:endParaRPr>
                    </a:p>
                  </a:txBody>
                  <a:tcPr marL="13240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«чётное» и «нечётное»</a:t>
                      </a:r>
                    </a:p>
                  </a:txBody>
                  <a:tcPr marL="132400" marR="7944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697092"/>
                  </a:ext>
                </a:extLst>
              </a:tr>
              <a:tr h="1024342">
                <a:tc>
                  <a:txBody>
                    <a:bodyPr/>
                    <a:lstStyle/>
                    <a:p>
                      <a:r>
                        <a:rPr lang="ru-RU" sz="1600" b="0">
                          <a:effectLst/>
                          <a:latin typeface="quote-cjk-patch"/>
                        </a:rPr>
                        <a:t>Полная группа</a:t>
                      </a:r>
                    </a:p>
                  </a:txBody>
                  <a:tcPr marL="7944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попарно несовместны и дают </a:t>
                      </a:r>
                      <a:r>
                        <a:rPr lang="ru-RU" sz="1600" b="0" dirty="0" smtClean="0">
                          <a:effectLst/>
                          <a:latin typeface="KaTeX_Main"/>
                        </a:rPr>
                        <a:t>Ω</a:t>
                      </a:r>
                      <a:endParaRPr lang="ru-RU" sz="1600" b="0" dirty="0">
                        <a:effectLst/>
                        <a:latin typeface="quote-cjk-patch"/>
                      </a:endParaRPr>
                    </a:p>
                  </a:txBody>
                  <a:tcPr marL="132400" marR="13240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b="0" dirty="0">
                          <a:effectLst/>
                          <a:latin typeface="quote-cjk-patch"/>
                        </a:rPr>
                        <a:t>{1}, {2}, …, {6}</a:t>
                      </a:r>
                    </a:p>
                  </a:txBody>
                  <a:tcPr marL="132400" marR="79440" marT="82750" marB="827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5697533"/>
                  </a:ext>
                </a:extLst>
              </a:tr>
            </a:tbl>
          </a:graphicData>
        </a:graphic>
      </p:graphicFrame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867" y="4075807"/>
            <a:ext cx="506632" cy="61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097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438" y="1009043"/>
            <a:ext cx="9905998" cy="1478570"/>
          </a:xfrm>
        </p:spPr>
        <p:txBody>
          <a:bodyPr rtlCol="0">
            <a:normAutofit fontScale="90000"/>
          </a:bodyPr>
          <a:lstStyle/>
          <a:p>
            <a:r>
              <a:rPr lang="ru-RU" b="1" dirty="0"/>
              <a:t>Операции над событиями и </a:t>
            </a:r>
            <a:r>
              <a:rPr lang="ru-RU" b="1" dirty="0" smtClean="0"/>
              <a:t/>
            </a:r>
            <a:br>
              <a:rPr lang="ru-RU" b="1" dirty="0" smtClean="0"/>
            </a:br>
            <a:r>
              <a:rPr lang="ru-RU" b="1" dirty="0" smtClean="0"/>
              <a:t>законы </a:t>
            </a:r>
            <a:r>
              <a:rPr lang="ru-RU" b="1" dirty="0"/>
              <a:t>де Моргана</a:t>
            </a:r>
            <a:br>
              <a:rPr lang="ru-RU" b="1" dirty="0"/>
            </a:br>
            <a:r>
              <a:rPr lang="ru-RU" dirty="0"/>
              <a:t/>
            </a:r>
            <a:br>
              <a:rPr lang="ru-RU" dirty="0"/>
            </a:br>
            <a:endParaRPr lang="ru-RU" b="1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7468" y="2385867"/>
            <a:ext cx="6897063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5084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438" y="1009043"/>
            <a:ext cx="9905998" cy="1478570"/>
          </a:xfrm>
        </p:spPr>
        <p:txBody>
          <a:bodyPr rtlCol="0">
            <a:normAutofit/>
          </a:bodyPr>
          <a:lstStyle/>
          <a:p>
            <a:r>
              <a:rPr lang="ru-RU" b="1" dirty="0"/>
              <a:t>Основные формулы комбинаторики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07" y="2014382"/>
            <a:ext cx="11359771" cy="357679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1099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438" y="1009043"/>
            <a:ext cx="9905998" cy="1478570"/>
          </a:xfrm>
        </p:spPr>
        <p:txBody>
          <a:bodyPr rtlCol="0">
            <a:normAutofit/>
          </a:bodyPr>
          <a:lstStyle/>
          <a:p>
            <a:r>
              <a:rPr lang="ru-RU" b="1" dirty="0" smtClean="0"/>
              <a:t>Свойства сочетаний</a:t>
            </a:r>
            <a:endParaRPr lang="ru-RU" b="1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438" y="2487613"/>
            <a:ext cx="6911724" cy="13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261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438" y="1009043"/>
            <a:ext cx="9905998" cy="1478570"/>
          </a:xfrm>
        </p:spPr>
        <p:txBody>
          <a:bodyPr rtlCol="0">
            <a:normAutofit/>
          </a:bodyPr>
          <a:lstStyle/>
          <a:p>
            <a:r>
              <a:rPr lang="ru-RU" b="1" dirty="0"/>
              <a:t>Определения вероятности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047750" y="2181225"/>
            <a:ext cx="11144249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800" b="1" dirty="0"/>
              <a:t>Классическое:</a:t>
            </a:r>
            <a:r>
              <a:rPr lang="ru-RU" sz="2800" dirty="0"/>
              <a:t> P(A)=</a:t>
            </a:r>
            <a:r>
              <a:rPr lang="ru-RU" sz="2800" dirty="0" smtClean="0"/>
              <a:t>m/n</a:t>
            </a:r>
            <a:r>
              <a:rPr lang="ru-RU" sz="2800" dirty="0"/>
              <a:t> </a:t>
            </a:r>
            <a:endParaRPr lang="ru-RU" sz="2800" dirty="0" smtClean="0"/>
          </a:p>
          <a:p>
            <a:endParaRPr lang="ru-RU" sz="2800" b="1" dirty="0" smtClean="0"/>
          </a:p>
          <a:p>
            <a:r>
              <a:rPr lang="ru-RU" sz="2800" b="1" dirty="0" smtClean="0"/>
              <a:t>Статистическое</a:t>
            </a:r>
            <a:r>
              <a:rPr lang="ru-RU" sz="2800" b="1" dirty="0"/>
              <a:t>:</a:t>
            </a:r>
            <a:r>
              <a:rPr lang="ru-RU" sz="2800" dirty="0"/>
              <a:t> частота W(A)=</a:t>
            </a:r>
            <a:r>
              <a:rPr lang="ru-RU" sz="2800" dirty="0" smtClean="0"/>
              <a:t>k/N</a:t>
            </a:r>
          </a:p>
          <a:p>
            <a:endParaRPr lang="ru-RU" sz="2800" b="1" dirty="0" smtClean="0"/>
          </a:p>
          <a:p>
            <a:r>
              <a:rPr lang="ru-RU" sz="2800" b="1" dirty="0" smtClean="0"/>
              <a:t>Геометрическое</a:t>
            </a:r>
            <a:r>
              <a:rPr lang="ru-RU" sz="2800" b="1" dirty="0"/>
              <a:t>:</a:t>
            </a:r>
            <a:r>
              <a:rPr lang="ru-RU" sz="2800" dirty="0"/>
              <a:t> P(A)=</a:t>
            </a:r>
            <a:r>
              <a:rPr lang="ru-RU" sz="2800" dirty="0" err="1"/>
              <a:t>mes</a:t>
            </a:r>
            <a:r>
              <a:rPr lang="ru-RU" sz="2800" dirty="0"/>
              <a:t>(A)/</a:t>
            </a:r>
            <a:r>
              <a:rPr lang="ru-RU" sz="2800" dirty="0" err="1"/>
              <a:t>mes</a:t>
            </a:r>
            <a:r>
              <a:rPr lang="ru-RU" sz="2800" dirty="0"/>
              <a:t>(Ω</a:t>
            </a:r>
            <a:r>
              <a:rPr lang="ru-RU" sz="2800" dirty="0" smtClean="0"/>
              <a:t>)</a:t>
            </a:r>
          </a:p>
          <a:p>
            <a:endParaRPr lang="ru-RU" sz="2800" i="1" dirty="0"/>
          </a:p>
          <a:p>
            <a:r>
              <a:rPr lang="ru-RU" sz="2800" b="1" dirty="0" smtClean="0"/>
              <a:t>Аксиоматическое</a:t>
            </a:r>
            <a:r>
              <a:rPr lang="ru-RU" sz="2800" b="1" dirty="0"/>
              <a:t>:</a:t>
            </a:r>
            <a:r>
              <a:rPr lang="ru-RU" sz="2800" dirty="0"/>
              <a:t> три </a:t>
            </a:r>
            <a:r>
              <a:rPr lang="ru-RU" sz="2800" dirty="0" smtClean="0"/>
              <a:t>аксиомы</a:t>
            </a:r>
          </a:p>
          <a:p>
            <a:r>
              <a:rPr lang="ru-RU" sz="2400" i="1" dirty="0" smtClean="0"/>
              <a:t>							</a:t>
            </a:r>
            <a:r>
              <a:rPr lang="en-US" sz="2400" i="1" dirty="0" smtClean="0"/>
              <a:t>P</a:t>
            </a:r>
            <a:r>
              <a:rPr lang="en-US" sz="2400" dirty="0" smtClean="0"/>
              <a:t>(</a:t>
            </a:r>
            <a:r>
              <a:rPr lang="en-US" sz="2400" i="1" dirty="0" smtClean="0"/>
              <a:t>A</a:t>
            </a:r>
            <a:r>
              <a:rPr lang="en-US" sz="2400" dirty="0"/>
              <a:t>)≥</a:t>
            </a:r>
            <a:r>
              <a:rPr lang="en-US" sz="2400" dirty="0" smtClean="0"/>
              <a:t>0</a:t>
            </a:r>
            <a:endParaRPr lang="ru-RU" sz="2400" dirty="0" smtClean="0"/>
          </a:p>
          <a:p>
            <a:r>
              <a:rPr lang="ru-RU" sz="2400" i="1" dirty="0" smtClean="0"/>
              <a:t>							</a:t>
            </a:r>
            <a:r>
              <a:rPr lang="en-US" sz="2400" i="1" dirty="0" smtClean="0"/>
              <a:t>P</a:t>
            </a:r>
            <a:r>
              <a:rPr lang="en-US" sz="2400" dirty="0" smtClean="0"/>
              <a:t>(</a:t>
            </a:r>
            <a:r>
              <a:rPr lang="el-GR" sz="2400" dirty="0"/>
              <a:t>Ω)=</a:t>
            </a:r>
            <a:r>
              <a:rPr lang="el-GR" sz="2400" dirty="0" smtClean="0"/>
              <a:t>1</a:t>
            </a:r>
            <a:endParaRPr lang="ru-RU" sz="2400" dirty="0" smtClean="0"/>
          </a:p>
          <a:p>
            <a:r>
              <a:rPr lang="ru-RU" sz="2400" dirty="0"/>
              <a:t> </a:t>
            </a:r>
            <a:r>
              <a:rPr lang="ru-RU" sz="2400" dirty="0" smtClean="0"/>
              <a:t>   (!) Для </a:t>
            </a:r>
            <a:r>
              <a:rPr lang="ru-RU" sz="2400" dirty="0"/>
              <a:t>несовместных P(∪</a:t>
            </a:r>
            <a:r>
              <a:rPr lang="ru-RU" sz="2400" dirty="0" err="1"/>
              <a:t>Ai</a:t>
            </a:r>
            <a:r>
              <a:rPr lang="ru-RU" sz="2400" dirty="0"/>
              <a:t>)=∑</a:t>
            </a:r>
            <a:r>
              <a:rPr lang="ru-RU" sz="2400" dirty="0" smtClean="0"/>
              <a:t>P(</a:t>
            </a:r>
            <a:r>
              <a:rPr lang="ru-RU" sz="2400" dirty="0" err="1" smtClean="0"/>
              <a:t>Ai</a:t>
            </a:r>
            <a:r>
              <a:rPr lang="ru-RU" sz="2400" dirty="0" smtClean="0"/>
              <a:t>)</a:t>
            </a:r>
            <a:endParaRPr lang="ru-RU" sz="2400" dirty="0"/>
          </a:p>
          <a:p>
            <a:r>
              <a:rPr lang="ru-RU" sz="2800" dirty="0" smtClean="0"/>
              <a:t/>
            </a:r>
            <a:br>
              <a:rPr lang="ru-RU" sz="2800" dirty="0" smtClean="0"/>
            </a:b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996906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438" y="1009043"/>
            <a:ext cx="9905998" cy="1478570"/>
          </a:xfrm>
        </p:spPr>
        <p:txBody>
          <a:bodyPr rtlCol="0">
            <a:normAutofit/>
          </a:bodyPr>
          <a:lstStyle/>
          <a:p>
            <a:r>
              <a:rPr lang="ru-RU" b="1" dirty="0"/>
              <a:t>Вопросы для самопроверки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047750" y="2181225"/>
            <a:ext cx="11144249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Что </a:t>
            </a:r>
            <a:r>
              <a:rPr lang="ru-RU" dirty="0"/>
              <a:t>такое пространство элементарных исходов?</a:t>
            </a:r>
          </a:p>
          <a:p>
            <a:r>
              <a:rPr lang="ru-RU" dirty="0"/>
              <a:t>Чем отличаются перестановки, размещения, сочетания?</a:t>
            </a:r>
          </a:p>
          <a:p>
            <a:r>
              <a:rPr lang="ru-RU" dirty="0"/>
              <a:t>Когда применяются правила суммы и произведения?</a:t>
            </a:r>
          </a:p>
          <a:p>
            <a:r>
              <a:rPr lang="ru-RU" dirty="0"/>
              <a:t>В чём разница между классической и статистической вероятностью?</a:t>
            </a:r>
          </a:p>
          <a:p>
            <a:r>
              <a:rPr lang="ru-RU" dirty="0"/>
              <a:t>Почему геометрическая вероятность допускает нулевые вероятности для возможных событий?</a:t>
            </a:r>
          </a:p>
          <a:p>
            <a:r>
              <a:rPr lang="ru-RU" dirty="0"/>
              <a:t>Как геометрическая вероятность связана с методом Монте-Карло?</a:t>
            </a:r>
          </a:p>
          <a:p>
            <a:r>
              <a:rPr lang="ru-RU" dirty="0"/>
              <a:t>Почему в ML используют случайный поиск вместо полного перебора?</a:t>
            </a:r>
          </a:p>
        </p:txBody>
      </p:sp>
    </p:spTree>
    <p:extLst>
      <p:ext uri="{BB962C8B-B14F-4D97-AF65-F5344CB8AC3E}">
        <p14:creationId xmlns:p14="http://schemas.microsoft.com/office/powerpoint/2010/main" val="192478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438" y="1009043"/>
            <a:ext cx="9905998" cy="1478570"/>
          </a:xfrm>
        </p:spPr>
        <p:txBody>
          <a:bodyPr rtlCol="0">
            <a:normAutofit/>
          </a:bodyPr>
          <a:lstStyle/>
          <a:p>
            <a:r>
              <a:rPr lang="ru-RU" b="1" dirty="0" smtClean="0"/>
              <a:t>Домашнее задание</a:t>
            </a:r>
            <a:endParaRPr lang="ru-RU" b="1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1047750" y="2181225"/>
            <a:ext cx="111442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 smtClean="0"/>
              <a:t>				Прочитать</a:t>
            </a:r>
            <a:r>
              <a:rPr lang="ru-RU" b="1" dirty="0"/>
              <a:t>:</a:t>
            </a:r>
            <a:r>
              <a:rPr lang="ru-RU" dirty="0"/>
              <a:t> </a:t>
            </a:r>
            <a:r>
              <a:rPr lang="ru-RU" dirty="0" err="1"/>
              <a:t>Гмурман</a:t>
            </a:r>
            <a:r>
              <a:rPr lang="ru-RU" dirty="0"/>
              <a:t>, гл. 1, § 1–8.</a:t>
            </a:r>
          </a:p>
        </p:txBody>
      </p:sp>
    </p:spTree>
    <p:extLst>
      <p:ext uri="{BB962C8B-B14F-4D97-AF65-F5344CB8AC3E}">
        <p14:creationId xmlns:p14="http://schemas.microsoft.com/office/powerpoint/2010/main" val="636013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епь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8_TF77815013" id="{1962104C-795F-4371-8349-496C14F8AF43}" vid="{D67E7ACE-B642-453D-889A-899E3699D5AB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Цикл «проблема-решение» </Template>
  <TotalTime>0</TotalTime>
  <Words>420</Words>
  <Application>Microsoft Office PowerPoint</Application>
  <PresentationFormat>Широкоэкранный</PresentationFormat>
  <Paragraphs>83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1" baseType="lpstr">
      <vt:lpstr>Arial</vt:lpstr>
      <vt:lpstr>Calibri</vt:lpstr>
      <vt:lpstr>KaTeX_Main</vt:lpstr>
      <vt:lpstr>quote-cjk-patch</vt:lpstr>
      <vt:lpstr>Rockwell</vt:lpstr>
      <vt:lpstr>Tahoma</vt:lpstr>
      <vt:lpstr>Trebuchet MS</vt:lpstr>
      <vt:lpstr>Tw Cen MT</vt:lpstr>
      <vt:lpstr>Цепь</vt:lpstr>
      <vt:lpstr>Теория вероятностей</vt:lpstr>
      <vt:lpstr>Презентация PowerPoint</vt:lpstr>
      <vt:lpstr>Как оно будет?</vt:lpstr>
      <vt:lpstr>Вопросы</vt:lpstr>
      <vt:lpstr> Основные понятия</vt:lpstr>
      <vt:lpstr>Классификация событий</vt:lpstr>
      <vt:lpstr>Операции над событиями и  законы де Моргана  </vt:lpstr>
      <vt:lpstr>Основные формулы комбинаторики</vt:lpstr>
      <vt:lpstr>Свойства сочетаний</vt:lpstr>
      <vt:lpstr>Определения вероятности</vt:lpstr>
      <vt:lpstr>Вопросы для самопроверки</vt:lpstr>
      <vt:lpstr>Домашнее задание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2026-08-31T19:00:03Z</dcterms:created>
  <dcterms:modified xsi:type="dcterms:W3CDTF">2026-08-31T19:58:45Z</dcterms:modified>
</cp:coreProperties>
</file>