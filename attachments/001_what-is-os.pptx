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65" r:id="rId18"/>
    <p:sldId id="266" r:id="rId19"/>
    <p:sldId id="292" r:id="rId20"/>
    <p:sldId id="293" r:id="rId21"/>
    <p:sldId id="294" r:id="rId22"/>
    <p:sldId id="295" r:id="rId23"/>
    <p:sldId id="296" r:id="rId24"/>
    <p:sldId id="268" r:id="rId25"/>
    <p:sldId id="269" r:id="rId26"/>
    <p:sldId id="297" r:id="rId27"/>
    <p:sldId id="298" r:id="rId28"/>
    <p:sldId id="299" r:id="rId29"/>
    <p:sldId id="300" r:id="rId30"/>
    <p:sldId id="301" r:id="rId31"/>
    <p:sldId id="270" r:id="rId32"/>
    <p:sldId id="271" r:id="rId33"/>
    <p:sldId id="302" r:id="rId34"/>
    <p:sldId id="303" r:id="rId35"/>
    <p:sldId id="272" r:id="rId36"/>
    <p:sldId id="273" r:id="rId37"/>
    <p:sldId id="304" r:id="rId38"/>
    <p:sldId id="305" r:id="rId39"/>
    <p:sldId id="274" r:id="rId40"/>
    <p:sldId id="275" r:id="rId41"/>
    <p:sldId id="306" r:id="rId42"/>
    <p:sldId id="276" r:id="rId43"/>
    <p:sldId id="307" r:id="rId44"/>
    <p:sldId id="308" r:id="rId45"/>
    <p:sldId id="309" r:id="rId46"/>
    <p:sldId id="310" r:id="rId47"/>
    <p:sldId id="277" r:id="rId48"/>
    <p:sldId id="311" r:id="rId49"/>
    <p:sldId id="312" r:id="rId50"/>
    <p:sldId id="313" r:id="rId51"/>
    <p:sldId id="314" r:id="rId52"/>
    <p:sldId id="278" r:id="rId53"/>
    <p:sldId id="279" r:id="rId54"/>
    <p:sldId id="280" r:id="rId55"/>
    <p:sldId id="281" r:id="rId56"/>
    <p:sldId id="282" r:id="rId57"/>
    <p:sldId id="283" r:id="rId5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7"/>
    <p:restoredTop sz="94645"/>
  </p:normalViewPr>
  <p:slideViewPr>
    <p:cSldViewPr snapToGrid="0" snapToObjects="1">
      <p:cViewPr varScale="1">
        <p:scale>
          <a:sx n="122" d="100"/>
          <a:sy n="122" d="100"/>
        </p:scale>
        <p:origin x="224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EA6724-0A99-0B40-9788-5BC9C26441C0}" type="datetimeFigureOut">
              <a:rPr lang="ru-RU" smtClean="0"/>
              <a:t>06.09.2026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6828F3-91B4-9149-B1FF-D200605D1E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76387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864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05D85-9A6C-E28C-5AAA-72C8E811F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4C5FFC4-1960-F82F-9702-8CFC2BEBC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96B1FA6-110B-64D6-5C3A-FC2508F5D7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CDB1553-AB48-03AD-8867-6CDD4B8327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6438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AA4240-7643-9556-CFF7-A78D67EF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3188619-39C6-17A3-786E-6922AF5A5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62FF1A4-3DB1-DEC9-E711-4432DD561D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AE30F32-A189-B103-CBDE-6CED7F9424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5050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791B06-A88D-FEDA-771B-CA7A596F6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3D26742-A2E3-A256-0681-291E76B47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49141BE-109C-4B9E-310F-C8E5AAC15A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B6087D3-773D-C5E5-6DFC-B9E6AB082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24113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B4127-C5F5-6F07-BFA1-31AC8F806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118FBD9-FDE8-D81A-7DB0-65C4744BD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318C314-F6EC-D101-D6B5-4821F0281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B25E371-A086-31F8-90C0-8EBA005B9C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8652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B3E82-1A15-447A-0B1B-A17662ED4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6207872-27D1-9914-84A6-069581E822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A9C18B4-D1C1-250D-1DD1-29F49A949E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50AA066-B262-0DE6-B4CA-20A98C0C51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5071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15423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221A6-4061-D9E8-042A-978F0A261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08FDD86-3E56-479D-3EDF-2166F82EF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F0B4FFD-A8FA-3763-194F-76668F06E1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AFDECC0-5E80-52D9-577D-88133EAA50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6828F3-91B4-9149-B1FF-D200605D1EE2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4827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23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Операционные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98755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2400">
                <a:solidFill>
                  <a:srgbClr val="DCE6F0"/>
                </a:solidFill>
                <a:latin typeface="Aptos"/>
              </a:defRPr>
            </a:pPr>
            <a:r>
              <a:t>Лекция 1: что такое ОС, как она устроена и зачем нужна</a:t>
            </a:r>
          </a:p>
          <a:p>
            <a:pPr>
              <a:spcAft>
                <a:spcPts val="1200"/>
              </a:spcAft>
              <a:defRPr sz="1900">
                <a:solidFill>
                  <a:srgbClr val="DCE6F0"/>
                </a:solidFill>
                <a:latin typeface="Aptos"/>
              </a:defRPr>
            </a:pPr>
            <a:r>
              <a:t>Уровень: 2 курс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Что мы разберём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Что такое операционная система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Kernel mode и user mode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ОС как расширенная машина и менеджер ресурсов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Как развивались ОС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Как ОС взаимодействует с CPU, памятью, дисками и I/O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Как компьютер загружается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Какие бывают операционные системы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ОС — это посредник между программами и железом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 даёт программам более простую модель компьютера.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Она управляет аппаратными ресурсами: процессором, памятью, дисками и устройствами I/O.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Главная идея: приложение не должно знать все детали конкретного железа.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Два режима работы: user mode и kernel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User mode: обычные приложения работают с ограниченными правами.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Kernel mode: ядро получает полный доступ к аппаратуре.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Такое разделение защищает систему от ошибок и вредоносных действий программ.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4</a:t>
            </a:r>
          </a:p>
        </p:txBody>
      </p:sp>
      <p:pic>
        <p:nvPicPr>
          <p:cNvPr id="7" name="Рисунок 6" descr="Изображение выглядит как текст, снимок экрана, Шриф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CF2744A-699D-31EB-2122-DD9210C3EC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2966006"/>
            <a:ext cx="7772400" cy="30292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Как приложение просит ОС что-то сделать?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Пример: программа хочет прочитать файл с диска.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Она не обращается к контроллеру диска напрямую.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Программа делает системный вызов (system call / trap).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Процессор переключается в kernel mode → ОС выполняет операцию → управление возвращается программе.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ОС как расширенная машина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Аппаратные интерфейсы сложны и различаются между устройствами.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 скрывает эту сложность с помощью абстракций.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Пример: драйвер диска предоставляет понятный интерфейс чтения/записи блоков.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ОС как менеджер ресурсов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 распределяет ресурсы между программами.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CPU — кто выполняется сейчас?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Память — кому какие области принадлежат?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I/O — кто и когда получает доступ к устройству?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Мультиплексирование ресурсов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Во времени (time multiplexing): ресурс получают по очереди.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Примеры: CPU, принтер.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В пространстве (space multiplexing): каждый получает свою часть ресурса.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Примеры: оперативная память, дисковое пространство.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Как ОС дошли до современного вида?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/>
              <a:t>1-е </a:t>
            </a:r>
            <a:r>
              <a:rPr dirty="0" err="1"/>
              <a:t>поколение</a:t>
            </a:r>
            <a:r>
              <a:rPr dirty="0"/>
              <a:t> (1945–1955): </a:t>
            </a:r>
            <a:r>
              <a:rPr dirty="0" err="1"/>
              <a:t>лампы</a:t>
            </a:r>
            <a:r>
              <a:rPr dirty="0"/>
              <a:t>, ОС </a:t>
            </a:r>
            <a:r>
              <a:rPr dirty="0" err="1"/>
              <a:t>ещё</a:t>
            </a:r>
            <a:r>
              <a:rPr dirty="0"/>
              <a:t> </a:t>
            </a:r>
            <a:r>
              <a:rPr dirty="0" err="1"/>
              <a:t>нет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/>
              <a:t>2-е (1955–1965): </a:t>
            </a:r>
            <a:r>
              <a:rPr dirty="0" err="1"/>
              <a:t>транзисторы</a:t>
            </a:r>
            <a:r>
              <a:rPr dirty="0"/>
              <a:t>, </a:t>
            </a:r>
            <a:r>
              <a:rPr dirty="0" err="1"/>
              <a:t>первые</a:t>
            </a:r>
            <a:r>
              <a:rPr dirty="0"/>
              <a:t> ОС </a:t>
            </a:r>
            <a:r>
              <a:rPr dirty="0" err="1"/>
              <a:t>и</a:t>
            </a:r>
            <a:r>
              <a:rPr dirty="0"/>
              <a:t> batch-</a:t>
            </a:r>
            <a:r>
              <a:rPr dirty="0" err="1"/>
              <a:t>системы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/>
              <a:t>3-е (1965–1980): </a:t>
            </a:r>
            <a:r>
              <a:rPr dirty="0" err="1"/>
              <a:t>интегральные</a:t>
            </a:r>
            <a:r>
              <a:rPr dirty="0"/>
              <a:t> </a:t>
            </a:r>
            <a:r>
              <a:rPr dirty="0" err="1"/>
              <a:t>схемы</a:t>
            </a:r>
            <a:r>
              <a:rPr dirty="0"/>
              <a:t>, multiprogramming, spooling, time-sharing.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/>
              <a:t>4-е (1980–1990): </a:t>
            </a:r>
            <a:r>
              <a:rPr dirty="0" err="1"/>
              <a:t>персональные</a:t>
            </a:r>
            <a:r>
              <a:rPr dirty="0"/>
              <a:t> </a:t>
            </a:r>
            <a:r>
              <a:rPr dirty="0" err="1"/>
              <a:t>компьютеры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/>
              <a:t>5-е (1990–</a:t>
            </a:r>
            <a:r>
              <a:rPr dirty="0" err="1"/>
              <a:t>н.в</a:t>
            </a:r>
            <a:r>
              <a:rPr dirty="0"/>
              <a:t>.): </a:t>
            </a:r>
            <a:r>
              <a:rPr dirty="0" err="1"/>
              <a:t>мобильные</a:t>
            </a:r>
            <a:r>
              <a:rPr dirty="0"/>
              <a:t> </a:t>
            </a:r>
            <a:r>
              <a:rPr dirty="0" err="1"/>
              <a:t>компьютеры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E47742-3B05-8778-AD2B-97BD32B7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ADF3A9-0C0E-4CF3-380B-002DD943B6B9}"/>
              </a:ext>
            </a:extLst>
          </p:cNvPr>
          <p:cNvSpPr txBox="1"/>
          <p:nvPr/>
        </p:nvSpPr>
        <p:spPr>
          <a:xfrm>
            <a:off x="603294" y="255353"/>
            <a:ext cx="108267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000" b="1" dirty="0">
                <a:latin typeface="Aptos" panose="020B0004020202020204" pitchFamily="34" charset="0"/>
              </a:rPr>
              <a:t>1945-1955 </a:t>
            </a:r>
            <a:r>
              <a:rPr lang="ru-RU" sz="3000" b="1" dirty="0">
                <a:latin typeface="Aptos" panose="020B0004020202020204" pitchFamily="34" charset="0"/>
              </a:rPr>
              <a:t>Первое поколение, лампы, вакуумные трубы, подключаемые платы</a:t>
            </a:r>
            <a:r>
              <a:rPr lang="en" sz="3000" b="1" dirty="0">
                <a:latin typeface="Aptos" panose="020B0004020202020204" pitchFamily="34" charset="0"/>
              </a:rPr>
              <a:t>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421CC44-1AFF-0527-C1D8-1E0F1F65DD72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71425D-1750-AEC2-1C74-C46FC2C21A82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  <p:pic>
        <p:nvPicPr>
          <p:cNvPr id="7" name="Рисунок 6" descr="Изображение выглядит как одежда, черно-белый, Человеческое лицо, человек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66E1917-99DF-5641-58A2-C4E53750D3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3200" y="1373826"/>
            <a:ext cx="5105400" cy="4343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53D51FC-1C5A-6043-77F3-A51F11689D10}"/>
              </a:ext>
            </a:extLst>
          </p:cNvPr>
          <p:cNvSpPr txBox="1"/>
          <p:nvPr/>
        </p:nvSpPr>
        <p:spPr>
          <a:xfrm>
            <a:off x="533400" y="1586832"/>
            <a:ext cx="5657193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" b="1" dirty="0"/>
              <a:t>Colossus — </a:t>
            </a:r>
            <a:r>
              <a:rPr lang="ru-RU" b="1" dirty="0"/>
              <a:t>Алан Тьюринг</a:t>
            </a:r>
          </a:p>
          <a:p>
            <a:pPr>
              <a:buNone/>
            </a:pPr>
            <a:r>
              <a:rPr lang="en" b="1" dirty="0"/>
              <a:t>ENIAC — </a:t>
            </a:r>
            <a:r>
              <a:rPr lang="ru-RU" b="1" dirty="0"/>
              <a:t>Джон Мокли</a:t>
            </a:r>
          </a:p>
          <a:p>
            <a:r>
              <a:rPr lang="ru-RU" dirty="0"/>
              <a:t>- Операционной системы </a:t>
            </a:r>
            <a:r>
              <a:rPr lang="ru-RU" b="1" dirty="0"/>
              <a:t>не было</a:t>
            </a:r>
            <a:endParaRPr lang="ru-RU" dirty="0"/>
          </a:p>
          <a:p>
            <a:r>
              <a:rPr lang="ru-RU" dirty="0"/>
              <a:t>- Медленный и огромный</a:t>
            </a:r>
          </a:p>
          <a:p>
            <a:r>
              <a:rPr lang="ru-RU" dirty="0"/>
              <a:t>- Требовал мощной системы кондиционирования для охлаждения</a:t>
            </a:r>
          </a:p>
          <a:p>
            <a:r>
              <a:rPr lang="ru-RU" dirty="0"/>
              <a:t>- Высокое энергопотребление электроэнергии</a:t>
            </a:r>
          </a:p>
          <a:p>
            <a:r>
              <a:rPr lang="ru-RU" dirty="0"/>
              <a:t>- Ограниченный объём памяти</a:t>
            </a:r>
          </a:p>
          <a:p>
            <a:r>
              <a:rPr lang="ru-RU" dirty="0"/>
              <a:t>- Программирование осуществлялось на </a:t>
            </a:r>
            <a:r>
              <a:rPr lang="ru-RU" b="1" dirty="0"/>
              <a:t>машинном языке</a:t>
            </a:r>
            <a:endParaRPr lang="ru-RU" dirty="0"/>
          </a:p>
          <a:p>
            <a:r>
              <a:rPr lang="ru-RU" dirty="0"/>
              <a:t>- Для ввода программ и данных использовались </a:t>
            </a:r>
            <a:r>
              <a:rPr lang="ru-RU" b="1" dirty="0"/>
              <a:t>перфокарты и бумажные ленты</a:t>
            </a:r>
            <a:endParaRPr lang="ru-RU" dirty="0"/>
          </a:p>
          <a:p>
            <a:r>
              <a:rPr lang="ru-RU" dirty="0"/>
              <a:t>- Для хранения данных использовались </a:t>
            </a:r>
            <a:r>
              <a:rPr lang="ru-RU" b="1" dirty="0"/>
              <a:t>магнитные ленты и магнитные барабаны</a:t>
            </a:r>
            <a:r>
              <a:rPr lang="ru-RU" dirty="0"/>
              <a:t> в качестве внешней памяти</a:t>
            </a:r>
          </a:p>
        </p:txBody>
      </p:sp>
    </p:spTree>
    <p:extLst>
      <p:ext uri="{BB962C8B-B14F-4D97-AF65-F5344CB8AC3E}">
        <p14:creationId xmlns:p14="http://schemas.microsoft.com/office/powerpoint/2010/main" val="37551110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D9F312-FA50-D8F3-F06A-FD501F0EC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B05D4F-D9AB-65B5-35CF-D3CF09575C33}"/>
              </a:ext>
            </a:extLst>
          </p:cNvPr>
          <p:cNvSpPr txBox="1"/>
          <p:nvPr/>
        </p:nvSpPr>
        <p:spPr>
          <a:xfrm>
            <a:off x="603294" y="255353"/>
            <a:ext cx="1082670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3000" b="1" dirty="0"/>
              <a:t>1955–1965 Второе поколение: транзисторы, первые ОС и </a:t>
            </a:r>
            <a:r>
              <a:rPr lang="en" sz="3000" b="1" dirty="0"/>
              <a:t>batch-</a:t>
            </a:r>
            <a:r>
              <a:rPr lang="ru-RU" sz="3000" b="1" dirty="0"/>
              <a:t>системы.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58DB70-8BDB-96F1-0169-7A6EE4846D51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E9B0F2-467C-07BF-D56B-0B5926E8558A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33A7A69-06CC-8F56-9A91-CA9ABA49DF77}"/>
              </a:ext>
            </a:extLst>
          </p:cNvPr>
          <p:cNvSpPr txBox="1"/>
          <p:nvPr/>
        </p:nvSpPr>
        <p:spPr>
          <a:xfrm>
            <a:off x="533400" y="1586832"/>
            <a:ext cx="565719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Транзисторы и пакетные системы / мейнфреймы</a:t>
            </a:r>
          </a:p>
          <a:p>
            <a:r>
              <a:rPr lang="ru-RU" dirty="0"/>
              <a:t>- Появились </a:t>
            </a:r>
            <a:r>
              <a:rPr lang="ru-RU" b="1" dirty="0"/>
              <a:t>транзисторы</a:t>
            </a:r>
            <a:r>
              <a:rPr lang="ru-RU" dirty="0"/>
              <a:t> </a:t>
            </a:r>
          </a:p>
          <a:p>
            <a:r>
              <a:rPr lang="ru-RU" dirty="0"/>
              <a:t>- Была разработана </a:t>
            </a:r>
            <a:r>
              <a:rPr lang="ru-RU" b="1" dirty="0"/>
              <a:t>память на магнитных сердечниках</a:t>
            </a:r>
            <a:r>
              <a:rPr lang="ru-RU" dirty="0"/>
              <a:t> </a:t>
            </a:r>
          </a:p>
          <a:p>
            <a:r>
              <a:rPr lang="ru-RU" dirty="0"/>
              <a:t>- Компьютеры стали </a:t>
            </a:r>
            <a:r>
              <a:rPr lang="ru-RU" b="1" dirty="0"/>
              <a:t>быстрее</a:t>
            </a:r>
            <a:r>
              <a:rPr lang="ru-RU" dirty="0"/>
              <a:t>, чем компьютеры первого поколения </a:t>
            </a:r>
          </a:p>
          <a:p>
            <a:r>
              <a:rPr lang="ru-RU" dirty="0"/>
              <a:t>- Появились </a:t>
            </a:r>
            <a:r>
              <a:rPr lang="ru-RU" b="1" dirty="0"/>
              <a:t>первые операционные системы</a:t>
            </a:r>
            <a:r>
              <a:rPr lang="ru-RU" dirty="0"/>
              <a:t> </a:t>
            </a:r>
          </a:p>
          <a:p>
            <a:r>
              <a:rPr lang="ru-RU" dirty="0"/>
              <a:t>- Программирование выполнялось на </a:t>
            </a:r>
            <a:r>
              <a:rPr lang="ru-RU" b="1" dirty="0"/>
              <a:t>машинном языке и языке ассемблера</a:t>
            </a:r>
            <a:r>
              <a:rPr lang="ru-RU" dirty="0"/>
              <a:t> </a:t>
            </a:r>
          </a:p>
          <a:p>
            <a:r>
              <a:rPr lang="ru-RU" dirty="0"/>
              <a:t>- Использовались </a:t>
            </a:r>
            <a:r>
              <a:rPr lang="ru-RU" b="1" dirty="0"/>
              <a:t>магнитные ленты и магнитные диски</a:t>
            </a:r>
            <a:r>
              <a:rPr lang="ru-RU" dirty="0"/>
              <a:t> </a:t>
            </a:r>
          </a:p>
          <a:p>
            <a:r>
              <a:rPr lang="ru-RU" dirty="0"/>
              <a:t>- Компьютеры стали </a:t>
            </a:r>
            <a:r>
              <a:rPr lang="ru-RU" b="1" dirty="0"/>
              <a:t>меньше</a:t>
            </a:r>
            <a:r>
              <a:rPr lang="ru-RU" dirty="0"/>
              <a:t>, чем устройства первого поколения </a:t>
            </a:r>
          </a:p>
          <a:p>
            <a:r>
              <a:rPr lang="ru-RU" dirty="0"/>
              <a:t>- Компьютеры выделяли </a:t>
            </a:r>
            <a:r>
              <a:rPr lang="ru-RU" b="1" dirty="0"/>
              <a:t>меньше тепла и потребляли меньше электроэнергии</a:t>
            </a:r>
            <a:r>
              <a:rPr lang="ru-RU" dirty="0"/>
              <a:t> 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F8E3038C-6D3F-F0CB-ACD4-55BE5F731D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8404" y="1586832"/>
            <a:ext cx="4850196" cy="3940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8253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DE4EE1-9B68-EF15-1AB7-112292579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87DFCD-1EA0-16ED-F180-4F66CF50B91A}"/>
              </a:ext>
            </a:extLst>
          </p:cNvPr>
          <p:cNvSpPr txBox="1"/>
          <p:nvPr/>
        </p:nvSpPr>
        <p:spPr>
          <a:xfrm>
            <a:off x="603294" y="255353"/>
            <a:ext cx="108267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3000" b="1" dirty="0"/>
              <a:t>1965–1980 — Третье поколение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136099-D4A1-5339-7BD9-71EA5CA2C081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447B6A-36E1-D08E-B1BD-8B9B444402E3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F0ADD3-E99C-1ECE-1A3E-FDDDF6587F2B}"/>
              </a:ext>
            </a:extLst>
          </p:cNvPr>
          <p:cNvSpPr txBox="1"/>
          <p:nvPr/>
        </p:nvSpPr>
        <p:spPr>
          <a:xfrm>
            <a:off x="533400" y="1586832"/>
            <a:ext cx="565719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Транзисторы, пакетные системы и мейнфреймы</a:t>
            </a:r>
            <a:endParaRPr lang="ru-RU" dirty="0"/>
          </a:p>
          <a:p>
            <a:r>
              <a:rPr lang="ru-RU" b="1" dirty="0"/>
              <a:t>- Интегральные схемы и многозадачность (</a:t>
            </a:r>
            <a:r>
              <a:rPr lang="en" b="1" dirty="0"/>
              <a:t>Multiprogramming)</a:t>
            </a:r>
            <a:r>
              <a:rPr lang="en" dirty="0"/>
              <a:t> </a:t>
            </a:r>
          </a:p>
          <a:p>
            <a:r>
              <a:rPr lang="ru-RU" b="1" dirty="0"/>
              <a:t>- Мультипрограммирование (</a:t>
            </a:r>
            <a:r>
              <a:rPr lang="en" b="1" dirty="0"/>
              <a:t>Multiprogramming)</a:t>
            </a:r>
            <a:r>
              <a:rPr lang="en" dirty="0"/>
              <a:t> — </a:t>
            </a:r>
            <a:r>
              <a:rPr lang="ru-RU" dirty="0"/>
              <a:t>несколько программ могут одновременно находиться в памяти и выполняться по очереди </a:t>
            </a:r>
          </a:p>
          <a:p>
            <a:r>
              <a:rPr lang="ru-RU" b="1" dirty="0"/>
              <a:t>- </a:t>
            </a:r>
            <a:r>
              <a:rPr lang="en" b="1" dirty="0"/>
              <a:t>Spooling</a:t>
            </a:r>
            <a:r>
              <a:rPr lang="en" dirty="0"/>
              <a:t> — </a:t>
            </a:r>
            <a:r>
              <a:rPr lang="ru-RU" dirty="0"/>
              <a:t>буферизация данных между программами и устройствами ввода-вывода </a:t>
            </a:r>
          </a:p>
          <a:p>
            <a:r>
              <a:rPr lang="ru-RU" b="1" dirty="0"/>
              <a:t>- Разделение времени (</a:t>
            </a:r>
            <a:r>
              <a:rPr lang="en" b="1" dirty="0"/>
              <a:t>Time-sharing)</a:t>
            </a:r>
            <a:r>
              <a:rPr lang="en" dirty="0"/>
              <a:t> — </a:t>
            </a:r>
            <a:r>
              <a:rPr lang="ru-RU" dirty="0"/>
              <a:t>процессорное время распределяется между несколькими пользователями и программами </a:t>
            </a:r>
          </a:p>
          <a:p>
            <a:r>
              <a:rPr lang="ru-RU" b="1" dirty="0"/>
              <a:t>- Пример:</a:t>
            </a:r>
            <a:endParaRPr lang="ru-RU" dirty="0"/>
          </a:p>
          <a:p>
            <a:r>
              <a:rPr lang="en" b="1" dirty="0"/>
              <a:t>IBM System/360</a:t>
            </a:r>
            <a:r>
              <a:rPr lang="en" dirty="0"/>
              <a:t> — </a:t>
            </a:r>
            <a:r>
              <a:rPr lang="ru-RU" dirty="0"/>
              <a:t>семейство мейнфреймов компании </a:t>
            </a:r>
            <a:r>
              <a:rPr lang="en" dirty="0"/>
              <a:t>IBM</a:t>
            </a:r>
          </a:p>
        </p:txBody>
      </p:sp>
      <p:pic>
        <p:nvPicPr>
          <p:cNvPr id="6" name="Рисунок 5" descr="Изображение выглядит как в помещении, одежда, человек, инжинирин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78241A2-2AF5-D346-41F2-5B05E72081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449" y="1586832"/>
            <a:ext cx="5121802" cy="397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321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C2B479-C25C-18DB-9786-A2C6ABA89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604A2A-32B0-7AB4-5257-0E5CB8AB3B8B}"/>
              </a:ext>
            </a:extLst>
          </p:cNvPr>
          <p:cNvSpPr txBox="1"/>
          <p:nvPr/>
        </p:nvSpPr>
        <p:spPr>
          <a:xfrm>
            <a:off x="603294" y="255353"/>
            <a:ext cx="108267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3000" b="1" dirty="0"/>
              <a:t>1965–1980 — Третье поколение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B2335D-2AF7-B09B-7488-D3BC9499F570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3CE47D-4D8C-151E-7071-AD5E60B4282A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4A2965-1C28-6077-1E72-F3ECCAA4296A}"/>
              </a:ext>
            </a:extLst>
          </p:cNvPr>
          <p:cNvSpPr txBox="1"/>
          <p:nvPr/>
        </p:nvSpPr>
        <p:spPr>
          <a:xfrm>
            <a:off x="533400" y="1586832"/>
            <a:ext cx="5657193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Транзисторы, пакетные системы и мейнфреймы</a:t>
            </a:r>
            <a:endParaRPr lang="ru-RU" dirty="0"/>
          </a:p>
          <a:p>
            <a:r>
              <a:rPr lang="ru-RU" b="1" dirty="0"/>
              <a:t>- Интегральные схемы и многозадачность (</a:t>
            </a:r>
            <a:r>
              <a:rPr lang="en" b="1" dirty="0"/>
              <a:t>Multiprogramming)</a:t>
            </a:r>
            <a:r>
              <a:rPr lang="en" dirty="0"/>
              <a:t> </a:t>
            </a:r>
          </a:p>
          <a:p>
            <a:r>
              <a:rPr lang="ru-RU" b="1" dirty="0"/>
              <a:t>- Мультипрограммирование (</a:t>
            </a:r>
            <a:r>
              <a:rPr lang="en" b="1" dirty="0"/>
              <a:t>Multiprogramming)</a:t>
            </a:r>
            <a:r>
              <a:rPr lang="en" dirty="0"/>
              <a:t> — </a:t>
            </a:r>
            <a:r>
              <a:rPr lang="ru-RU" dirty="0"/>
              <a:t>несколько программ могут одновременно находиться в памяти и выполняться по очереди </a:t>
            </a:r>
          </a:p>
          <a:p>
            <a:r>
              <a:rPr lang="ru-RU" b="1" dirty="0"/>
              <a:t>- </a:t>
            </a:r>
            <a:r>
              <a:rPr lang="en" b="1" dirty="0"/>
              <a:t>Spooling</a:t>
            </a:r>
            <a:r>
              <a:rPr lang="en" dirty="0"/>
              <a:t> — </a:t>
            </a:r>
            <a:r>
              <a:rPr lang="ru-RU" dirty="0"/>
              <a:t>буферизация данных между программами и устройствами ввода-вывода </a:t>
            </a:r>
          </a:p>
          <a:p>
            <a:r>
              <a:rPr lang="ru-RU" b="1" dirty="0"/>
              <a:t>- Разделение времени (</a:t>
            </a:r>
            <a:r>
              <a:rPr lang="en" b="1" dirty="0"/>
              <a:t>Time-sharing)</a:t>
            </a:r>
            <a:r>
              <a:rPr lang="en" dirty="0"/>
              <a:t> — </a:t>
            </a:r>
            <a:r>
              <a:rPr lang="ru-RU" dirty="0"/>
              <a:t>процессорное время распределяется между несколькими пользователями и программами </a:t>
            </a:r>
          </a:p>
          <a:p>
            <a:r>
              <a:rPr lang="ru-RU" b="1" dirty="0"/>
              <a:t>- Пример:</a:t>
            </a:r>
            <a:endParaRPr lang="ru-RU" dirty="0"/>
          </a:p>
          <a:p>
            <a:r>
              <a:rPr lang="en" b="1" dirty="0"/>
              <a:t>IBM System/360</a:t>
            </a:r>
            <a:r>
              <a:rPr lang="en" dirty="0"/>
              <a:t> — </a:t>
            </a:r>
            <a:r>
              <a:rPr lang="ru-RU" dirty="0"/>
              <a:t>семейство мейнфреймов компании </a:t>
            </a:r>
            <a:r>
              <a:rPr lang="en" dirty="0"/>
              <a:t>IBM</a:t>
            </a:r>
          </a:p>
        </p:txBody>
      </p:sp>
      <p:pic>
        <p:nvPicPr>
          <p:cNvPr id="6" name="Рисунок 5" descr="Изображение выглядит как в помещении, одежда, человек, инжинирин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C3296E8D-6BDB-05DB-856D-AA4F4C1C4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4449" y="1586832"/>
            <a:ext cx="5121802" cy="397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93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A9A620-B7F8-C46F-6420-C2760BD6D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6F7422-E5E6-5545-C81D-BBFFDD1287C3}"/>
              </a:ext>
            </a:extLst>
          </p:cNvPr>
          <p:cNvSpPr txBox="1"/>
          <p:nvPr/>
        </p:nvSpPr>
        <p:spPr>
          <a:xfrm>
            <a:off x="603294" y="255353"/>
            <a:ext cx="1082670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3000" b="1" dirty="0"/>
              <a:t>1965–1971 гг. — третье поколение компьютеров. Часть 1.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ABF0C41-BA7A-FAB2-D18B-CF92BE60B1DE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5A211E-C3BD-7ACC-FA7A-0787556F7549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173C78-B583-A6B2-C748-984553A28477}"/>
              </a:ext>
            </a:extLst>
          </p:cNvPr>
          <p:cNvSpPr txBox="1"/>
          <p:nvPr/>
        </p:nvSpPr>
        <p:spPr>
          <a:xfrm>
            <a:off x="533400" y="1586832"/>
            <a:ext cx="738089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Часть 1. Интегральные схемы</a:t>
            </a:r>
          </a:p>
          <a:p>
            <a:r>
              <a:rPr lang="ru-RU" dirty="0"/>
              <a:t>- Были разработаны интегральные схемы.</a:t>
            </a:r>
          </a:p>
          <a:p>
            <a:r>
              <a:rPr lang="ru-RU" dirty="0"/>
              <a:t>- Энергопотребление стало ниже.</a:t>
            </a:r>
          </a:p>
          <a:p>
            <a:pPr marL="285750" indent="-285750">
              <a:buFontTx/>
              <a:buChar char="-"/>
            </a:pPr>
            <a:r>
              <a:rPr lang="ru-RU" dirty="0"/>
              <a:t>Использовались технологии </a:t>
            </a:r>
            <a:r>
              <a:rPr lang="en" b="1" dirty="0"/>
              <a:t>SSI </a:t>
            </a:r>
            <a:r>
              <a:rPr lang="ru-RU" b="1" dirty="0"/>
              <a:t>и </a:t>
            </a:r>
            <a:r>
              <a:rPr lang="en" b="1" dirty="0"/>
              <a:t>MSI</a:t>
            </a:r>
            <a:r>
              <a:rPr lang="en" dirty="0"/>
              <a:t>.</a:t>
            </a:r>
          </a:p>
          <a:p>
            <a:pPr marL="285750" indent="-285750">
              <a:buFontTx/>
              <a:buChar char="-"/>
            </a:pPr>
            <a:r>
              <a:rPr lang="en" b="1" dirty="0"/>
              <a:t>SSI (Small-Scale Integration)</a:t>
            </a:r>
            <a:r>
              <a:rPr lang="en" dirty="0"/>
              <a:t> — </a:t>
            </a:r>
            <a:r>
              <a:rPr lang="ru-RU" b="1" dirty="0"/>
              <a:t>малая степень интеграции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одной микросхеме размещалось </a:t>
            </a:r>
            <a:r>
              <a:rPr lang="ru-RU" b="1" dirty="0"/>
              <a:t>небольшое количество логических элементов</a:t>
            </a:r>
            <a:r>
              <a:rPr lang="ru-RU" dirty="0"/>
              <a:t> — обычно до нескольких десятков. Например, отдельные логические элементы: </a:t>
            </a:r>
            <a:r>
              <a:rPr lang="en" dirty="0"/>
              <a:t>AND, OR, NOT. </a:t>
            </a:r>
            <a:endParaRPr lang="ru-RU" dirty="0"/>
          </a:p>
          <a:p>
            <a:pPr marL="285750" indent="-285750">
              <a:buFontTx/>
              <a:buChar char="-"/>
            </a:pPr>
            <a:r>
              <a:rPr lang="en" b="1" dirty="0"/>
              <a:t>MSI (Medium-Scale Integration)</a:t>
            </a:r>
            <a:r>
              <a:rPr lang="en" dirty="0"/>
              <a:t> — </a:t>
            </a:r>
            <a:r>
              <a:rPr lang="ru-RU" b="1" dirty="0"/>
              <a:t>средняя степень интеграции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одной микросхеме размещалось </a:t>
            </a:r>
            <a:r>
              <a:rPr lang="ru-RU" b="1" dirty="0"/>
              <a:t>больше логических элементов</a:t>
            </a:r>
            <a:r>
              <a:rPr lang="ru-RU" dirty="0"/>
              <a:t> — от десятков до примерно сотен. Например, можно было создать </a:t>
            </a:r>
            <a:r>
              <a:rPr lang="ru-RU" b="1" dirty="0"/>
              <a:t>счётчики, сумматоры, регистры, мультиплексоры</a:t>
            </a:r>
            <a:r>
              <a:rPr lang="ru-RU" dirty="0"/>
              <a:t>.</a:t>
            </a:r>
            <a:endParaRPr lang="en" dirty="0"/>
          </a:p>
          <a:p>
            <a:r>
              <a:rPr lang="en-US" dirty="0"/>
              <a:t>- </a:t>
            </a:r>
            <a:r>
              <a:rPr lang="ru-RU" dirty="0"/>
              <a:t>Использовались языки программирования высокого уровня.</a:t>
            </a:r>
          </a:p>
          <a:p>
            <a:r>
              <a:rPr lang="ru-RU" b="1" dirty="0"/>
              <a:t>Примеры:</a:t>
            </a:r>
            <a:endParaRPr lang="ru-RU" dirty="0"/>
          </a:p>
          <a:p>
            <a:r>
              <a:rPr lang="en-US" dirty="0"/>
              <a:t>- </a:t>
            </a:r>
            <a:r>
              <a:rPr lang="ru-RU" dirty="0"/>
              <a:t>Серия </a:t>
            </a:r>
            <a:r>
              <a:rPr lang="en" b="1" dirty="0"/>
              <a:t>Honeywell-6000</a:t>
            </a:r>
            <a:endParaRPr lang="en" dirty="0"/>
          </a:p>
          <a:p>
            <a:r>
              <a:rPr lang="en" b="1" dirty="0"/>
              <a:t>- PDP (Personal Data Processor — </a:t>
            </a:r>
            <a:r>
              <a:rPr lang="ru-RU" b="1" dirty="0"/>
              <a:t>персональный процессор данных)</a:t>
            </a:r>
            <a:endParaRPr lang="ru-RU" dirty="0"/>
          </a:p>
          <a:p>
            <a:r>
              <a:rPr lang="en-US" dirty="0"/>
              <a:t>- </a:t>
            </a:r>
            <a:r>
              <a:rPr lang="ru-RU" dirty="0"/>
              <a:t>Серии </a:t>
            </a:r>
            <a:r>
              <a:rPr lang="en" b="1" dirty="0"/>
              <a:t>IBM-360 </a:t>
            </a:r>
            <a:r>
              <a:rPr lang="ru-RU" b="1" dirty="0"/>
              <a:t>и 370/168</a:t>
            </a:r>
            <a:endParaRPr lang="ru-RU" dirty="0"/>
          </a:p>
          <a:p>
            <a:r>
              <a:rPr lang="en" b="1" dirty="0"/>
              <a:t>- TDC-316</a:t>
            </a:r>
            <a:endParaRPr lang="en" dirty="0"/>
          </a:p>
        </p:txBody>
      </p:sp>
      <p:pic>
        <p:nvPicPr>
          <p:cNvPr id="6" name="Рисунок 5" descr="Изображение выглядит как в помещении, одежда, человек, инжиниринг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18303AA9-B0F9-052A-0ABB-958FCEA26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811" y="1586832"/>
            <a:ext cx="3620440" cy="2806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8948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F567F0-B850-B185-FBED-2FDF52DD0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164DEF-6DAA-12C7-0C3F-B8726E733CE9}"/>
              </a:ext>
            </a:extLst>
          </p:cNvPr>
          <p:cNvSpPr txBox="1"/>
          <p:nvPr/>
        </p:nvSpPr>
        <p:spPr>
          <a:xfrm>
            <a:off x="603294" y="255353"/>
            <a:ext cx="108267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/>
              <a:t>1980–1990 гг. — четвёртое поколение компьютеров</a:t>
            </a:r>
            <a:endParaRPr lang="ru-RU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0D1001-53C6-6E50-D265-AE8CBC53DABE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1E5E8-2121-C260-22C6-B7ACB8803297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9F2105-3EED-2167-DDE7-640B16CFE008}"/>
              </a:ext>
            </a:extLst>
          </p:cNvPr>
          <p:cNvSpPr txBox="1"/>
          <p:nvPr/>
        </p:nvSpPr>
        <p:spPr>
          <a:xfrm>
            <a:off x="533400" y="1586832"/>
            <a:ext cx="738089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ru-RU" dirty="0"/>
          </a:p>
          <a:p>
            <a:r>
              <a:rPr lang="ru-RU" b="1" dirty="0"/>
              <a:t>1980–1990 гг. — четвёртое поколение компьютеров</a:t>
            </a:r>
            <a:endParaRPr lang="ru-RU" dirty="0"/>
          </a:p>
          <a:p>
            <a:r>
              <a:rPr lang="ru-RU" b="1" dirty="0"/>
              <a:t>Персональные компьютеры</a:t>
            </a:r>
          </a:p>
          <a:p>
            <a:r>
              <a:rPr lang="en-US" b="1" dirty="0"/>
              <a:t>- </a:t>
            </a:r>
            <a:r>
              <a:rPr lang="ru-RU" b="1" dirty="0"/>
              <a:t>Персональные компьютеры</a:t>
            </a:r>
            <a:r>
              <a:rPr lang="ru-RU" dirty="0"/>
              <a:t> были разработаны после изобретения микросхем </a:t>
            </a:r>
            <a:r>
              <a:rPr lang="en" b="1" dirty="0"/>
              <a:t>LSI (Large Scale Integration — </a:t>
            </a:r>
            <a:r>
              <a:rPr lang="ru-RU" b="1" dirty="0"/>
              <a:t>большая степень интеграции)</a:t>
            </a:r>
            <a:r>
              <a:rPr lang="ru-RU" dirty="0"/>
              <a:t>.</a:t>
            </a:r>
          </a:p>
          <a:p>
            <a:r>
              <a:rPr lang="en-US" b="1" dirty="0"/>
              <a:t>- </a:t>
            </a:r>
            <a:r>
              <a:rPr lang="ru-RU" b="1" dirty="0"/>
              <a:t>Первый микрокомпьютер</a:t>
            </a:r>
          </a:p>
          <a:p>
            <a:r>
              <a:rPr lang="en-US" dirty="0"/>
              <a:t>- </a:t>
            </a:r>
            <a:r>
              <a:rPr lang="ru-RU" dirty="0"/>
              <a:t>Процессор </a:t>
            </a:r>
            <a:r>
              <a:rPr lang="en" b="1" dirty="0"/>
              <a:t>Intel 8080</a:t>
            </a:r>
            <a:r>
              <a:rPr lang="en" dirty="0"/>
              <a:t> + </a:t>
            </a:r>
            <a:r>
              <a:rPr lang="ru-RU" dirty="0"/>
              <a:t>подключённый </a:t>
            </a:r>
            <a:r>
              <a:rPr lang="ru-RU" b="1" dirty="0"/>
              <a:t>8-дюймовый дисковод для гибких дисков</a:t>
            </a:r>
            <a:r>
              <a:rPr lang="ru-RU" dirty="0"/>
              <a:t>.</a:t>
            </a:r>
          </a:p>
          <a:p>
            <a:r>
              <a:rPr lang="en-US" dirty="0"/>
              <a:t>- </a:t>
            </a:r>
            <a:r>
              <a:rPr lang="ru-RU" dirty="0"/>
              <a:t>Первая дисковая операционная система </a:t>
            </a:r>
            <a:r>
              <a:rPr lang="en" b="1" dirty="0"/>
              <a:t>CP/M (Control Program for Microcomputers — </a:t>
            </a:r>
            <a:r>
              <a:rPr lang="ru-RU" b="1" dirty="0"/>
              <a:t>управляющая программа для микрокомпьютеров)</a:t>
            </a:r>
            <a:r>
              <a:rPr lang="ru-RU" dirty="0"/>
              <a:t>.</a:t>
            </a:r>
          </a:p>
          <a:p>
            <a:r>
              <a:rPr lang="en-US" dirty="0"/>
              <a:t>- </a:t>
            </a:r>
            <a:r>
              <a:rPr lang="ru-RU" dirty="0"/>
              <a:t>В </a:t>
            </a:r>
            <a:r>
              <a:rPr lang="ru-RU" b="1" dirty="0"/>
              <a:t>1980-х годах</a:t>
            </a:r>
            <a:r>
              <a:rPr lang="ru-RU" dirty="0"/>
              <a:t> компания </a:t>
            </a:r>
            <a:r>
              <a:rPr lang="en" b="1" dirty="0"/>
              <a:t>IBM</a:t>
            </a:r>
            <a:r>
              <a:rPr lang="en" dirty="0"/>
              <a:t> </a:t>
            </a:r>
            <a:r>
              <a:rPr lang="ru-RU" dirty="0"/>
              <a:t>разработала </a:t>
            </a:r>
            <a:r>
              <a:rPr lang="en" b="1" dirty="0"/>
              <a:t>IBM PC</a:t>
            </a:r>
            <a:r>
              <a:rPr lang="en" dirty="0"/>
              <a:t> </a:t>
            </a:r>
            <a:r>
              <a:rPr lang="ru-RU" dirty="0"/>
              <a:t>и обратилась к </a:t>
            </a:r>
            <a:r>
              <a:rPr lang="ru-RU" b="1" dirty="0"/>
              <a:t>Биллу Гейтсу</a:t>
            </a:r>
            <a:r>
              <a:rPr lang="ru-RU" dirty="0"/>
              <a:t> для создания операционной системы.</a:t>
            </a:r>
          </a:p>
          <a:p>
            <a:endParaRPr lang="en" dirty="0"/>
          </a:p>
        </p:txBody>
      </p:sp>
      <p:pic>
        <p:nvPicPr>
          <p:cNvPr id="3074" name="Picture 2" descr="Picture background">
            <a:extLst>
              <a:ext uri="{FF2B5EF4-FFF2-40B4-BE49-F238E27FC236}">
                <a16:creationId xmlns:a16="http://schemas.microsoft.com/office/drawing/2014/main" id="{64D10945-FADB-E25E-182B-786564E0CD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1423" y="1618133"/>
            <a:ext cx="4103461" cy="2733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813258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D1DC3C-3D68-4AC0-962C-D4FB7FC65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3B0DDB-BC6A-8A12-FE85-95EEA1543021}"/>
              </a:ext>
            </a:extLst>
          </p:cNvPr>
          <p:cNvSpPr txBox="1"/>
          <p:nvPr/>
        </p:nvSpPr>
        <p:spPr>
          <a:xfrm>
            <a:off x="603294" y="255353"/>
            <a:ext cx="1082670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3200" b="1" dirty="0"/>
              <a:t>19</a:t>
            </a:r>
            <a:r>
              <a:rPr lang="en-US" sz="3200" b="1" dirty="0"/>
              <a:t>90</a:t>
            </a:r>
            <a:r>
              <a:rPr lang="ru-RU" sz="3200" b="1" dirty="0"/>
              <a:t>–</a:t>
            </a:r>
            <a:r>
              <a:rPr lang="en-US" sz="3200" b="1" dirty="0"/>
              <a:t> </a:t>
            </a:r>
            <a:r>
              <a:rPr lang="ru-RU" sz="3200" b="1" dirty="0"/>
              <a:t>наше время — пятое поколение компьютеров</a:t>
            </a:r>
            <a:endParaRPr lang="ru-RU" sz="3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02961C-5508-B09C-8B5A-E9C5FA188550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648A98-1BB6-1C49-7ED5-3445030FB236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9</a:t>
            </a:r>
          </a:p>
        </p:txBody>
      </p:sp>
      <p:pic>
        <p:nvPicPr>
          <p:cNvPr id="6" name="Рисунок 5" descr="Изображение выглядит как телефон, Проводной телефо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374A663-57E5-21E8-0007-1FD470501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0109" y="1491094"/>
            <a:ext cx="8871782" cy="50473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938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Аппаратная база ОС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Процессоры (CPU)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Основная память и кэш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Диски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Устройства ввода-вывода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Шины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 должна понимать особенности этой аппаратуры, чтобы управлять ею.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10</a:t>
            </a:r>
          </a:p>
        </p:txBody>
      </p:sp>
      <p:pic>
        <p:nvPicPr>
          <p:cNvPr id="7" name="Рисунок 6" descr="Изображение выглядит как текст, снимок экрана, линия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EB95EE8E-5582-433B-437A-AE2CA167B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240607"/>
            <a:ext cx="7772400" cy="203438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CPU: цикл выполнения инструкции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b="1" dirty="0"/>
              <a:t>Базовый цикл любого </a:t>
            </a:r>
            <a:r>
              <a:rPr lang="en-US" b="1" dirty="0"/>
              <a:t>CPU:</a:t>
            </a:r>
            <a:endParaRPr lang="ru-RU" b="1" dirty="0"/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-US" dirty="0"/>
              <a:t>- </a:t>
            </a:r>
            <a:r>
              <a:rPr dirty="0"/>
              <a:t>Fetch — </a:t>
            </a:r>
            <a:r>
              <a:rPr dirty="0" err="1"/>
              <a:t>получить</a:t>
            </a:r>
            <a:r>
              <a:rPr dirty="0"/>
              <a:t> </a:t>
            </a:r>
            <a:r>
              <a:rPr dirty="0" err="1"/>
              <a:t>инструкцию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-US" dirty="0"/>
              <a:t>- </a:t>
            </a:r>
            <a:r>
              <a:rPr dirty="0"/>
              <a:t>Decode — </a:t>
            </a:r>
            <a:r>
              <a:rPr dirty="0" err="1"/>
              <a:t>определить</a:t>
            </a:r>
            <a:r>
              <a:rPr dirty="0"/>
              <a:t> </a:t>
            </a:r>
            <a:r>
              <a:rPr dirty="0" err="1"/>
              <a:t>операцию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операнды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-US" dirty="0"/>
              <a:t>- </a:t>
            </a:r>
            <a:r>
              <a:rPr dirty="0"/>
              <a:t>Calculate operands — </a:t>
            </a:r>
            <a:r>
              <a:rPr dirty="0" err="1"/>
              <a:t>вычислить</a:t>
            </a:r>
            <a:r>
              <a:rPr dirty="0"/>
              <a:t> </a:t>
            </a:r>
            <a:r>
              <a:rPr dirty="0" err="1"/>
              <a:t>эффективные</a:t>
            </a:r>
            <a:r>
              <a:rPr dirty="0"/>
              <a:t> </a:t>
            </a:r>
            <a:r>
              <a:rPr dirty="0" err="1"/>
              <a:t>адреса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-US" dirty="0"/>
              <a:t>- </a:t>
            </a:r>
            <a:r>
              <a:rPr dirty="0"/>
              <a:t>Fetch operands — </a:t>
            </a:r>
            <a:r>
              <a:rPr dirty="0" err="1"/>
              <a:t>получить</a:t>
            </a:r>
            <a:r>
              <a:rPr dirty="0"/>
              <a:t> </a:t>
            </a:r>
            <a:r>
              <a:rPr dirty="0" err="1"/>
              <a:t>операнды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-US" dirty="0"/>
              <a:t>- </a:t>
            </a:r>
            <a:r>
              <a:rPr dirty="0"/>
              <a:t>Execute — </a:t>
            </a:r>
            <a:r>
              <a:rPr dirty="0" err="1"/>
              <a:t>выполнить</a:t>
            </a:r>
            <a:r>
              <a:rPr dirty="0"/>
              <a:t> </a:t>
            </a:r>
            <a:r>
              <a:rPr dirty="0" err="1"/>
              <a:t>операцию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-US" dirty="0"/>
              <a:t>- </a:t>
            </a:r>
            <a:r>
              <a:rPr dirty="0"/>
              <a:t>Write operand — </a:t>
            </a:r>
            <a:r>
              <a:rPr dirty="0" err="1"/>
              <a:t>записать</a:t>
            </a:r>
            <a:r>
              <a:rPr dirty="0"/>
              <a:t> </a:t>
            </a:r>
            <a:r>
              <a:rPr dirty="0" err="1"/>
              <a:t>результат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8EEF8E-BF0E-C941-6FC8-A189F822F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0AB654-A727-2C12-7AC3-3E5A982D8703}"/>
              </a:ext>
            </a:extLst>
          </p:cNvPr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CPU: цикл выполнения инструкции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7C199F-8C40-7631-3D2E-33B3CE3F421B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56A695-FA97-79D3-1F40-48962BF795D3}"/>
              </a:ext>
            </a:extLst>
          </p:cNvPr>
          <p:cNvSpPr txBox="1"/>
          <p:nvPr/>
        </p:nvSpPr>
        <p:spPr>
          <a:xfrm>
            <a:off x="777240" y="1600200"/>
            <a:ext cx="1060704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Процессор (</a:t>
            </a:r>
            <a:r>
              <a:rPr lang="en" b="1" dirty="0"/>
              <a:t>CPU) </a:t>
            </a:r>
            <a:r>
              <a:rPr lang="ru-RU" b="1" dirty="0"/>
              <a:t>содержит несколько регистров</a:t>
            </a:r>
            <a:r>
              <a:rPr lang="ru-RU" dirty="0"/>
              <a:t>, предназначенных для хранения важных переменных и временных результатов:</a:t>
            </a:r>
          </a:p>
          <a:p>
            <a:r>
              <a:rPr lang="ru-RU" b="1" dirty="0"/>
              <a:t>Регистры общего назначения (</a:t>
            </a:r>
            <a:r>
              <a:rPr lang="en" b="1" dirty="0"/>
              <a:t>General registers)</a:t>
            </a:r>
            <a:r>
              <a:rPr lang="en" dirty="0"/>
              <a:t> — </a:t>
            </a:r>
            <a:r>
              <a:rPr lang="ru-RU" dirty="0"/>
              <a:t>хранят переменные и временные результаты вычислений.</a:t>
            </a:r>
          </a:p>
          <a:p>
            <a:r>
              <a:rPr lang="ru-RU" b="1" dirty="0"/>
              <a:t>Счётчик команд (</a:t>
            </a:r>
            <a:r>
              <a:rPr lang="en" b="1" dirty="0"/>
              <a:t>Program Counter, PC)</a:t>
            </a:r>
            <a:r>
              <a:rPr lang="en" dirty="0"/>
              <a:t> — </a:t>
            </a:r>
            <a:r>
              <a:rPr lang="ru-RU" dirty="0"/>
              <a:t>содержит адрес </a:t>
            </a:r>
            <a:r>
              <a:rPr lang="ru-RU" b="1" dirty="0"/>
              <a:t>следующей инструкции</a:t>
            </a:r>
            <a:r>
              <a:rPr lang="ru-RU" dirty="0"/>
              <a:t>, которую необходимо получить и выполнить.</a:t>
            </a:r>
          </a:p>
          <a:p>
            <a:r>
              <a:rPr lang="ru-RU" b="1" dirty="0"/>
              <a:t>Указатель стека (</a:t>
            </a:r>
            <a:r>
              <a:rPr lang="en" b="1" dirty="0"/>
              <a:t>Stack Pointer, SP)</a:t>
            </a:r>
            <a:r>
              <a:rPr lang="en" dirty="0"/>
              <a:t> — </a:t>
            </a:r>
            <a:r>
              <a:rPr lang="ru-RU" dirty="0"/>
              <a:t>указывает на </a:t>
            </a:r>
            <a:r>
              <a:rPr lang="ru-RU" b="1" dirty="0"/>
              <a:t>текущую вершину стека в памяти</a:t>
            </a:r>
            <a:r>
              <a:rPr lang="ru-RU" dirty="0"/>
              <a:t>.</a:t>
            </a:r>
          </a:p>
          <a:p>
            <a:r>
              <a:rPr lang="en" b="1" dirty="0"/>
              <a:t>PSW (Program Status Word — </a:t>
            </a:r>
            <a:r>
              <a:rPr lang="ru-RU" b="1" dirty="0"/>
              <a:t>слово состояния программы)</a:t>
            </a:r>
            <a:r>
              <a:rPr lang="ru-RU" dirty="0"/>
              <a:t> — содержит различные </a:t>
            </a:r>
            <a:r>
              <a:rPr lang="ru-RU" b="1" dirty="0"/>
              <a:t>флаги и управляющие биты</a:t>
            </a:r>
            <a:r>
              <a:rPr lang="ru-RU" dirty="0"/>
              <a:t>, например:</a:t>
            </a:r>
          </a:p>
          <a:p>
            <a:pPr lvl="1"/>
            <a:r>
              <a:rPr lang="ru-RU" dirty="0"/>
              <a:t>результаты инструкций сравнения;</a:t>
            </a:r>
          </a:p>
          <a:p>
            <a:pPr lvl="1"/>
            <a:r>
              <a:rPr lang="ru-RU" dirty="0"/>
              <a:t>приоритет процессора;</a:t>
            </a:r>
          </a:p>
          <a:p>
            <a:pPr lvl="1"/>
            <a:r>
              <a:rPr lang="ru-RU" dirty="0"/>
              <a:t>режим работы (</a:t>
            </a:r>
            <a:r>
              <a:rPr lang="ru-RU" b="1" dirty="0"/>
              <a:t>режим ядра или пользовательский режим</a:t>
            </a:r>
            <a:r>
              <a:rPr lang="ru-RU" dirty="0"/>
              <a:t>);</a:t>
            </a:r>
          </a:p>
          <a:p>
            <a:pPr lvl="1"/>
            <a:r>
              <a:rPr lang="ru-RU" dirty="0"/>
              <a:t>другие управляющие биты.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449A26-B2F8-4969-6312-D1BA08B1EFC8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114528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1AC0B-E754-9401-D8D3-AF56F2CCF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6CECF7-E83A-0192-8815-CE1E13E08D1B}"/>
              </a:ext>
            </a:extLst>
          </p:cNvPr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CPU: цикл выполнения инструкции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24F66D-A716-C267-EC0A-FE580E41B3B7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6193E-8171-C7C1-C0D8-245F3524C076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11</a:t>
            </a:r>
          </a:p>
        </p:txBody>
      </p:sp>
      <p:pic>
        <p:nvPicPr>
          <p:cNvPr id="7" name="Рисунок 6" descr="Изображение выглядит как текст, Шрифт, снимок экрана, диаграмма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36A54363-6E7F-D3F0-1FC3-A476778B3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577536"/>
            <a:ext cx="7772400" cy="452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8546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DA880B-7C6E-36C3-DCC4-FC6039F6B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47E92BA-B8ED-85C3-DD3C-AD08E89849EC}"/>
              </a:ext>
            </a:extLst>
          </p:cNvPr>
          <p:cNvSpPr txBox="1"/>
          <p:nvPr/>
        </p:nvSpPr>
        <p:spPr>
          <a:xfrm>
            <a:off x="640080" y="411480"/>
            <a:ext cx="111104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 </a:t>
            </a:r>
            <a:r>
              <a:rPr lang="en" sz="3000" b="1" dirty="0"/>
              <a:t>Multithreading / Hyper-Threading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84DD06-6A3B-BB9F-73F0-DD7DC518B037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E79064-385D-D2C4-F8E3-125642411EBA}"/>
              </a:ext>
            </a:extLst>
          </p:cNvPr>
          <p:cNvSpPr txBox="1"/>
          <p:nvPr/>
        </p:nvSpPr>
        <p:spPr>
          <a:xfrm>
            <a:off x="777240" y="1600200"/>
            <a:ext cx="10607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- </a:t>
            </a:r>
            <a:r>
              <a:rPr lang="ru-RU" dirty="0"/>
              <a:t>Это позволяет процессору </a:t>
            </a:r>
            <a:r>
              <a:rPr lang="ru-RU" b="1" dirty="0"/>
              <a:t>хранить состояние двух разных потоков</a:t>
            </a:r>
            <a:r>
              <a:rPr lang="ru-RU" dirty="0"/>
              <a:t> и переключаться между ними за наносекунды.</a:t>
            </a:r>
          </a:p>
          <a:p>
            <a:r>
              <a:rPr lang="en-US" dirty="0"/>
              <a:t>- </a:t>
            </a:r>
            <a:r>
              <a:rPr lang="ru-RU" dirty="0"/>
              <a:t>Если одному из процессов необходимо </a:t>
            </a:r>
            <a:r>
              <a:rPr lang="ru-RU" b="1" dirty="0"/>
              <a:t>считать слово из памяти</a:t>
            </a:r>
            <a:r>
              <a:rPr lang="ru-RU" dirty="0"/>
              <a:t> (это длительная операция), многоядерный/многопоточный процессор может просто </a:t>
            </a:r>
            <a:r>
              <a:rPr lang="ru-RU" b="1" dirty="0"/>
              <a:t>переключиться на другой поток</a:t>
            </a:r>
            <a:r>
              <a:rPr lang="ru-RU" dirty="0"/>
              <a:t>, тем самым экономя время.</a:t>
            </a:r>
          </a:p>
          <a:p>
            <a:r>
              <a:rPr lang="en-US" b="1" dirty="0"/>
              <a:t>- </a:t>
            </a:r>
            <a:r>
              <a:rPr lang="ru-RU" b="1" dirty="0"/>
              <a:t>Многопоточность не обеспечивает настоящего параллелизма</a:t>
            </a:r>
            <a:r>
              <a:rPr lang="ru-RU" dirty="0"/>
              <a:t> — два потока не выполняются одновременно на одном вычислительном ядре.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71FBA8-6569-0CF7-73DF-1FDC546089DE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001508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177F2F-0C59-EAD6-47A2-3826FCC4D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9E78C3-BFA4-A9CC-174D-B8405EE39D4D}"/>
              </a:ext>
            </a:extLst>
          </p:cNvPr>
          <p:cNvSpPr txBox="1"/>
          <p:nvPr/>
        </p:nvSpPr>
        <p:spPr>
          <a:xfrm>
            <a:off x="640080" y="411480"/>
            <a:ext cx="111104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 </a:t>
            </a:r>
            <a:r>
              <a:rPr lang="en" sz="3000" b="1" dirty="0"/>
              <a:t>Multithreading / Hyper-Threading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054D96-8311-83B2-6856-65655895D89E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E2D08C-7C53-3F77-3EB9-F29322DAACA5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11</a:t>
            </a:r>
          </a:p>
        </p:txBody>
      </p:sp>
      <p:pic>
        <p:nvPicPr>
          <p:cNvPr id="7" name="Рисунок 6" descr="Изображение выглядит как текст, диаграмма, снимок экрана, План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0386693-8265-734B-07FE-E4D26396AA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9123" y="1555531"/>
            <a:ext cx="7772400" cy="4525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1920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42CD8C-1AD9-C322-1701-085473D43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7066633-A411-00EA-1391-5AA14019AF4E}"/>
              </a:ext>
            </a:extLst>
          </p:cNvPr>
          <p:cNvSpPr txBox="1"/>
          <p:nvPr/>
        </p:nvSpPr>
        <p:spPr>
          <a:xfrm>
            <a:off x="640080" y="411480"/>
            <a:ext cx="11110486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Многоядерные процессоры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A9ACA-72AD-151F-092C-3F7975D4A775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6FEE4B-DCC2-5EED-F0A2-C393CB50964F}"/>
              </a:ext>
            </a:extLst>
          </p:cNvPr>
          <p:cNvSpPr txBox="1"/>
          <p:nvPr/>
        </p:nvSpPr>
        <p:spPr>
          <a:xfrm>
            <a:off x="777240" y="1600200"/>
            <a:ext cx="1060704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/>
              <a:t>Многие современные процессоры содержат </a:t>
            </a:r>
            <a:r>
              <a:rPr lang="ru-RU" b="1" dirty="0"/>
              <a:t>несколько полноценных процессоров, или ядер</a:t>
            </a:r>
            <a:r>
              <a:rPr lang="ru-RU" dirty="0"/>
              <a:t>. Для эффективного использования многоядерного процессора требуется </a:t>
            </a:r>
            <a:r>
              <a:rPr lang="ru-RU" b="1" dirty="0"/>
              <a:t>многопроцессорная операционная система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dirty="0"/>
              <a:t>Современный </a:t>
            </a:r>
            <a:r>
              <a:rPr lang="en" b="1" dirty="0"/>
              <a:t>GPU (Graphics Processing Unit — </a:t>
            </a:r>
            <a:r>
              <a:rPr lang="ru-RU" b="1" dirty="0"/>
              <a:t>графический процессор)</a:t>
            </a:r>
            <a:r>
              <a:rPr lang="ru-RU" dirty="0"/>
              <a:t> — это процессор, содержащий </a:t>
            </a:r>
            <a:r>
              <a:rPr lang="ru-RU" b="1" dirty="0"/>
              <a:t>тысячи небольших ядер</a:t>
            </a:r>
            <a:r>
              <a:rPr lang="ru-RU" dirty="0"/>
              <a:t>, которые отлично подходят для выполнения большого количества небольших вычислений </a:t>
            </a:r>
            <a:r>
              <a:rPr lang="ru-RU" b="1" dirty="0"/>
              <a:t>параллельно</a:t>
            </a:r>
            <a:r>
              <a:rPr lang="ru-RU" dirty="0"/>
              <a:t>, например для отрисовки многоугольников в графических приложениях.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b="1" dirty="0"/>
              <a:t>Многоядерные процессоры обеспечивают настоящий параллелизм</a:t>
            </a:r>
            <a:r>
              <a:rPr lang="ru-RU" dirty="0"/>
              <a:t> — несколько задач могут выполняться одновременно на разных ядрах.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153DBE-EA66-90B9-00A6-4A01431E7FAD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6488422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Многопоточность и многоядерность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Hyper-threading: CPU хранит состояние нескольких потоков и быстро переключается между ними.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Это помогает скрывать задержки памяти, но само по себе не создаёт полноценного параллелизма.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Многоядерный процессор имеет несколько вычислительных ядер и обеспечивает настоящий параллелизм.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Для использования нескольких CPU/ядер нужна многопроцессорная ОС.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Иерархия памяти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 err="1"/>
              <a:t>Чем</a:t>
            </a:r>
            <a:r>
              <a:rPr dirty="0"/>
              <a:t> </a:t>
            </a:r>
            <a:r>
              <a:rPr dirty="0" err="1"/>
              <a:t>ближе</a:t>
            </a:r>
            <a:r>
              <a:rPr dirty="0"/>
              <a:t> </a:t>
            </a:r>
            <a:r>
              <a:rPr dirty="0" err="1"/>
              <a:t>к</a:t>
            </a:r>
            <a:r>
              <a:rPr dirty="0"/>
              <a:t> CPU, </a:t>
            </a:r>
            <a:r>
              <a:rPr dirty="0" err="1"/>
              <a:t>тем</a:t>
            </a:r>
            <a:r>
              <a:rPr dirty="0"/>
              <a:t> </a:t>
            </a:r>
            <a:r>
              <a:rPr dirty="0" err="1"/>
              <a:t>память</a:t>
            </a:r>
            <a:r>
              <a:rPr dirty="0"/>
              <a:t> </a:t>
            </a:r>
            <a:r>
              <a:rPr dirty="0" err="1"/>
              <a:t>быстрее</a:t>
            </a:r>
            <a:r>
              <a:rPr dirty="0"/>
              <a:t>, </a:t>
            </a:r>
            <a:r>
              <a:rPr dirty="0" err="1"/>
              <a:t>меньше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дороже</a:t>
            </a:r>
            <a:r>
              <a:rPr dirty="0"/>
              <a:t> </a:t>
            </a:r>
            <a:r>
              <a:rPr dirty="0" err="1"/>
              <a:t>за</a:t>
            </a:r>
            <a:r>
              <a:rPr dirty="0"/>
              <a:t> </a:t>
            </a:r>
            <a:r>
              <a:rPr dirty="0" err="1"/>
              <a:t>бит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/>
              <a:t>Registers → Cache → RAM → Disk.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 err="1"/>
              <a:t>Идея</a:t>
            </a:r>
            <a:r>
              <a:rPr dirty="0"/>
              <a:t> </a:t>
            </a:r>
            <a:r>
              <a:rPr dirty="0" err="1"/>
              <a:t>кэша</a:t>
            </a:r>
            <a:r>
              <a:rPr dirty="0"/>
              <a:t>: </a:t>
            </a:r>
            <a:r>
              <a:rPr dirty="0" err="1"/>
              <a:t>часто</a:t>
            </a:r>
            <a:r>
              <a:rPr dirty="0"/>
              <a:t> </a:t>
            </a:r>
            <a:r>
              <a:rPr dirty="0" err="1"/>
              <a:t>используемые</a:t>
            </a:r>
            <a:r>
              <a:rPr dirty="0"/>
              <a:t> </a:t>
            </a:r>
            <a:r>
              <a:rPr dirty="0" err="1"/>
              <a:t>данные</a:t>
            </a:r>
            <a:r>
              <a:rPr dirty="0"/>
              <a:t> </a:t>
            </a:r>
            <a:r>
              <a:rPr dirty="0" err="1"/>
              <a:t>держать</a:t>
            </a:r>
            <a:r>
              <a:rPr dirty="0"/>
              <a:t> </a:t>
            </a:r>
            <a:r>
              <a:rPr dirty="0" err="1"/>
              <a:t>ближе</a:t>
            </a:r>
            <a:r>
              <a:rPr dirty="0"/>
              <a:t> </a:t>
            </a:r>
            <a:r>
              <a:rPr dirty="0" err="1"/>
              <a:t>к</a:t>
            </a:r>
            <a:r>
              <a:rPr dirty="0"/>
              <a:t> </a:t>
            </a:r>
            <a:r>
              <a:rPr dirty="0" err="1"/>
              <a:t>процессору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14</a:t>
            </a:r>
          </a:p>
        </p:txBody>
      </p:sp>
      <p:pic>
        <p:nvPicPr>
          <p:cNvPr id="7" name="Рисунок 6" descr="Изображение выглядит как текст, Шрифт, снимок экрана, число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6A68D440-FF6B-3A30-324D-69551ACCA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19" y="2999433"/>
            <a:ext cx="10498362" cy="309656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DCE037-CEFA-47D6-67E8-D548D856F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897116-8D21-460E-FF0A-B0A20CDEAE5C}"/>
              </a:ext>
            </a:extLst>
          </p:cNvPr>
          <p:cNvSpPr txBox="1"/>
          <p:nvPr/>
        </p:nvSpPr>
        <p:spPr>
          <a:xfrm>
            <a:off x="640080" y="411480"/>
            <a:ext cx="238238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dirty="0"/>
              <a:t>Кэш-память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12501D-3745-1933-E685-0FCD485AF9FF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0C5E0C-8C54-1A49-40B9-A1F1135B8A09}"/>
              </a:ext>
            </a:extLst>
          </p:cNvPr>
          <p:cNvSpPr txBox="1"/>
          <p:nvPr/>
        </p:nvSpPr>
        <p:spPr>
          <a:xfrm>
            <a:off x="777240" y="1600200"/>
            <a:ext cx="1060704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Когда программе необходимо </a:t>
            </a:r>
            <a:r>
              <a:rPr lang="ru-RU" sz="2000" b="1" dirty="0"/>
              <a:t>прочитать слово из памяти</a:t>
            </a:r>
            <a:r>
              <a:rPr lang="ru-RU" sz="2000" dirty="0"/>
              <a:t>, аппаратное обеспечение кэш-памяти проверяет, находится ли нужная </a:t>
            </a:r>
            <a:r>
              <a:rPr lang="ru-RU" sz="2000" b="1" dirty="0"/>
              <a:t>кэш-линия</a:t>
            </a:r>
            <a:r>
              <a:rPr lang="ru-RU" sz="2000" dirty="0"/>
              <a:t> в кэше.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Если она там есть (</a:t>
            </a:r>
            <a:r>
              <a:rPr lang="en" sz="2000" b="1" dirty="0"/>
              <a:t>cache hit — </a:t>
            </a:r>
            <a:r>
              <a:rPr lang="ru-RU" sz="2000" b="1" dirty="0"/>
              <a:t>попадание в кэш</a:t>
            </a:r>
            <a:r>
              <a:rPr lang="ru-RU" sz="2000" dirty="0"/>
              <a:t>), запрос к основной памяти через </a:t>
            </a:r>
            <a:r>
              <a:rPr lang="ru-RU" sz="2000" b="1" dirty="0"/>
              <a:t>шину (</a:t>
            </a:r>
            <a:r>
              <a:rPr lang="en" sz="2000" b="1" dirty="0"/>
              <a:t>bus)</a:t>
            </a:r>
            <a:r>
              <a:rPr lang="en" sz="2000" dirty="0"/>
              <a:t> </a:t>
            </a:r>
            <a:r>
              <a:rPr lang="ru-RU" sz="2000" dirty="0"/>
              <a:t>не отправляется.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Обычно такая операция занимает около </a:t>
            </a:r>
            <a:r>
              <a:rPr lang="ru-RU" sz="2000" b="1" dirty="0"/>
              <a:t>2 тактов процессора</a:t>
            </a:r>
            <a:r>
              <a:rPr lang="ru-RU" sz="2000" dirty="0"/>
              <a:t>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Некоторые компьютеры имеют </a:t>
            </a:r>
            <a:r>
              <a:rPr lang="ru-RU" sz="2000" b="1" dirty="0"/>
              <a:t>два или даже три уровня кэш-памяти</a:t>
            </a:r>
            <a:r>
              <a:rPr lang="ru-RU" sz="2000" dirty="0"/>
              <a:t>. Каждый следующий уровень </a:t>
            </a:r>
            <a:r>
              <a:rPr lang="ru-RU" sz="2000" b="1" dirty="0"/>
              <a:t>медленнее, но больше по объёму</a:t>
            </a:r>
            <a:r>
              <a:rPr lang="ru-RU" sz="2000" dirty="0"/>
              <a:t>, чем предыдущий.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D0A618-E20C-036D-CE0E-BB778DA746E9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53381141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EA19A2-AE2B-BA42-AB0A-716CB30BA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5ABDAC1-8066-5CB8-77D3-98201456D234}"/>
              </a:ext>
            </a:extLst>
          </p:cNvPr>
          <p:cNvSpPr txBox="1"/>
          <p:nvPr/>
        </p:nvSpPr>
        <p:spPr>
          <a:xfrm>
            <a:off x="640080" y="411480"/>
            <a:ext cx="636744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Проблемы системы кэширования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1C95997-8CDC-2C5A-1F74-9B0B7696556D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959A5E-165A-75C3-6975-50C04C60B22E}"/>
              </a:ext>
            </a:extLst>
          </p:cNvPr>
          <p:cNvSpPr txBox="1"/>
          <p:nvPr/>
        </p:nvSpPr>
        <p:spPr>
          <a:xfrm>
            <a:off x="777240" y="1600200"/>
            <a:ext cx="1060704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b="1" dirty="0"/>
              <a:t>Когда помещать новый элемент в кэш.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b="1" dirty="0"/>
              <a:t>В какую кэш-линию</a:t>
            </a:r>
            <a:r>
              <a:rPr lang="ru-RU" sz="2000" dirty="0"/>
              <a:t> поместить новый элемент.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b="1" dirty="0"/>
              <a:t>Какой элемент удалить из кэша</a:t>
            </a:r>
            <a:r>
              <a:rPr lang="ru-RU" sz="2000" dirty="0"/>
              <a:t>, когда требуется свободное место.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b="1" dirty="0"/>
              <a:t>Куда поместить удалённый из кэша элемент</a:t>
            </a:r>
            <a:r>
              <a:rPr lang="ru-RU" sz="2000" dirty="0"/>
              <a:t> в более объёмную основную память.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41F493-DB64-2522-DFE1-34DF26525A18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5009055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90ED9F-BBF5-AFBE-39B4-92B7CF37F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0AFB8D-2E69-0391-3809-F4A0D1A7DD34}"/>
              </a:ext>
            </a:extLst>
          </p:cNvPr>
          <p:cNvSpPr txBox="1"/>
          <p:nvPr/>
        </p:nvSpPr>
        <p:spPr>
          <a:xfrm>
            <a:off x="640080" y="411480"/>
            <a:ext cx="2208490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en" sz="3000" b="1" dirty="0"/>
              <a:t>RAM </a:t>
            </a:r>
            <a:r>
              <a:rPr lang="ru-RU" sz="3000" b="1" dirty="0"/>
              <a:t>и </a:t>
            </a:r>
            <a:r>
              <a:rPr lang="en" sz="3000" b="1" dirty="0"/>
              <a:t>ROM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5253C2-AE7B-1B00-319D-C879EFD37E5F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A4643-20BF-6E06-F84D-AC3E201EBB78}"/>
              </a:ext>
            </a:extLst>
          </p:cNvPr>
          <p:cNvSpPr txBox="1"/>
          <p:nvPr/>
        </p:nvSpPr>
        <p:spPr>
          <a:xfrm>
            <a:off x="777240" y="1600200"/>
            <a:ext cx="10607040" cy="2503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" sz="2000" b="1" dirty="0"/>
              <a:t>RAM (Random-Access Memory — </a:t>
            </a:r>
            <a:r>
              <a:rPr lang="ru-RU" sz="2000" b="1" dirty="0"/>
              <a:t>оперативная память)</a:t>
            </a:r>
            <a:r>
              <a:rPr lang="ru-RU" sz="2000" dirty="0"/>
              <a:t> обрабатывает все запросы </a:t>
            </a:r>
            <a:r>
              <a:rPr lang="ru-RU" sz="2000" b="1" dirty="0"/>
              <a:t>процессора (</a:t>
            </a:r>
            <a:r>
              <a:rPr lang="en" sz="2000" b="1" dirty="0"/>
              <a:t>CPU)</a:t>
            </a:r>
            <a:r>
              <a:rPr lang="en" sz="2000" dirty="0"/>
              <a:t>, </a:t>
            </a:r>
            <a:r>
              <a:rPr lang="ru-RU" sz="2000" dirty="0"/>
              <a:t>которые не могут быть выполнены с использованием кэш-памяти.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" sz="2000" b="1" dirty="0"/>
              <a:t>ROM (Read-Only Memory — </a:t>
            </a:r>
            <a:r>
              <a:rPr lang="ru-RU" sz="2000" b="1" dirty="0"/>
              <a:t>постоянная память)</a:t>
            </a:r>
            <a:r>
              <a:rPr lang="ru-RU" sz="2000" dirty="0"/>
              <a:t> не теряет своё содержимое при </a:t>
            </a:r>
            <a:r>
              <a:rPr lang="ru-RU" sz="2000" b="1" dirty="0"/>
              <a:t>отключении питания</a:t>
            </a:r>
            <a:r>
              <a:rPr lang="ru-RU" sz="2000" dirty="0"/>
              <a:t>. Она программируется на заводе и после этого </a:t>
            </a:r>
            <a:r>
              <a:rPr lang="ru-RU" sz="2000" b="1" dirty="0"/>
              <a:t>не может быть изменена</a:t>
            </a:r>
            <a:r>
              <a:rPr lang="ru-RU" sz="2000" dirty="0"/>
              <a:t>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В некоторых компьютерах </a:t>
            </a:r>
            <a:r>
              <a:rPr lang="ru-RU" sz="2000" b="1" dirty="0"/>
              <a:t>загрузчик (</a:t>
            </a:r>
            <a:r>
              <a:rPr lang="en" sz="2000" b="1" dirty="0"/>
              <a:t>bootstrap loader)</a:t>
            </a:r>
            <a:r>
              <a:rPr lang="en" sz="2000" dirty="0"/>
              <a:t>, </a:t>
            </a:r>
            <a:r>
              <a:rPr lang="ru-RU" sz="2000" dirty="0"/>
              <a:t>используемый для </a:t>
            </a:r>
            <a:r>
              <a:rPr lang="ru-RU" sz="2000" b="1" dirty="0"/>
              <a:t>запуска компьютера</a:t>
            </a:r>
            <a:r>
              <a:rPr lang="ru-RU" sz="2000" dirty="0"/>
              <a:t>, хранится в </a:t>
            </a:r>
            <a:r>
              <a:rPr lang="en" sz="2000" dirty="0"/>
              <a:t>ROM.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902076-4269-3421-4E2C-1F87D7F17081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14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010415E-E404-86AF-FB85-C58F221DE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786" y="4103449"/>
            <a:ext cx="10027948" cy="158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2700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4CE14A-9A7B-6383-0563-99E6D8B0F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57F054-7708-860F-8C56-37CE131AD5EB}"/>
              </a:ext>
            </a:extLst>
          </p:cNvPr>
          <p:cNvSpPr txBox="1"/>
          <p:nvPr/>
        </p:nvSpPr>
        <p:spPr>
          <a:xfrm>
            <a:off x="640080" y="411480"/>
            <a:ext cx="445487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en" sz="3000" b="1" dirty="0"/>
              <a:t>EEPROM </a:t>
            </a:r>
            <a:r>
              <a:rPr lang="ru-RU" sz="3000" b="1" dirty="0"/>
              <a:t>и </a:t>
            </a:r>
            <a:r>
              <a:rPr lang="en" sz="3000" b="1" dirty="0"/>
              <a:t>Flash-</a:t>
            </a:r>
            <a:r>
              <a:rPr lang="ru-RU" sz="3000" b="1" dirty="0"/>
              <a:t>память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7E2392-1DCA-FBFB-AEC5-636D1D6149B4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45BFC-7584-C342-8CB7-56A0D1541211}"/>
              </a:ext>
            </a:extLst>
          </p:cNvPr>
          <p:cNvSpPr txBox="1"/>
          <p:nvPr/>
        </p:nvSpPr>
        <p:spPr>
          <a:xfrm>
            <a:off x="777240" y="1600200"/>
            <a:ext cx="10607040" cy="31188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" sz="2000" b="1" dirty="0"/>
              <a:t>EEPROM (Electrically Erasable Programmable ROM — </a:t>
            </a:r>
            <a:r>
              <a:rPr lang="ru-RU" sz="2000" b="1" dirty="0"/>
              <a:t>электрически стираемая программируемая постоянная память)</a:t>
            </a:r>
            <a:r>
              <a:rPr lang="ru-RU" sz="2000" dirty="0"/>
              <a:t> и </a:t>
            </a:r>
            <a:r>
              <a:rPr lang="en" sz="2000" b="1" dirty="0"/>
              <a:t>Flash-</a:t>
            </a:r>
            <a:r>
              <a:rPr lang="ru-RU" sz="2000" b="1" dirty="0"/>
              <a:t>память</a:t>
            </a:r>
            <a:r>
              <a:rPr lang="ru-RU" sz="2000" dirty="0"/>
              <a:t> также являются </a:t>
            </a:r>
            <a:r>
              <a:rPr lang="ru-RU" sz="2000" b="1" dirty="0"/>
              <a:t>энергонезависимыми</a:t>
            </a:r>
            <a:r>
              <a:rPr lang="ru-RU" sz="2000" dirty="0"/>
              <a:t>, но, в отличие от </a:t>
            </a:r>
            <a:r>
              <a:rPr lang="en" sz="2000" dirty="0"/>
              <a:t>ROM, </a:t>
            </a:r>
            <a:r>
              <a:rPr lang="ru-RU" sz="2000" dirty="0"/>
              <a:t>их содержимое </a:t>
            </a:r>
            <a:r>
              <a:rPr lang="ru-RU" sz="2000" b="1" dirty="0"/>
              <a:t>можно стирать и перезаписывать</a:t>
            </a:r>
            <a:r>
              <a:rPr lang="ru-RU" sz="2000" dirty="0"/>
              <a:t>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" sz="2000" b="1" dirty="0"/>
              <a:t>Flash-</a:t>
            </a:r>
            <a:r>
              <a:rPr lang="ru-RU" sz="2000" b="1" dirty="0"/>
              <a:t>память</a:t>
            </a:r>
            <a:r>
              <a:rPr lang="ru-RU" sz="2000" dirty="0"/>
              <a:t> также широко используется в качестве </a:t>
            </a:r>
            <a:r>
              <a:rPr lang="ru-RU" sz="2000" b="1" dirty="0"/>
              <a:t>носителя данных</a:t>
            </a:r>
            <a:r>
              <a:rPr lang="ru-RU" sz="2000" dirty="0"/>
              <a:t> в портативных электронных </a:t>
            </a:r>
            <a:r>
              <a:rPr lang="ru-RU" sz="2000" dirty="0" err="1"/>
              <a:t>устройствах.По</a:t>
            </a:r>
            <a:r>
              <a:rPr lang="ru-RU" sz="2000" dirty="0"/>
              <a:t> скорости </a:t>
            </a:r>
            <a:r>
              <a:rPr lang="en" sz="2000" dirty="0"/>
              <a:t>Flash-</a:t>
            </a:r>
            <a:r>
              <a:rPr lang="ru-RU" sz="2000" dirty="0"/>
              <a:t>память занимает </a:t>
            </a:r>
            <a:r>
              <a:rPr lang="ru-RU" sz="2000" b="1" dirty="0"/>
              <a:t>промежуточное положение между </a:t>
            </a:r>
            <a:r>
              <a:rPr lang="en" sz="2000" b="1" dirty="0"/>
              <a:t>RAM </a:t>
            </a:r>
            <a:r>
              <a:rPr lang="ru-RU" sz="2000" b="1" dirty="0"/>
              <a:t>и диском</a:t>
            </a:r>
            <a:r>
              <a:rPr lang="ru-RU" sz="2000" dirty="0"/>
              <a:t>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en" sz="2000" dirty="0"/>
              <a:t>Flash-</a:t>
            </a:r>
            <a:r>
              <a:rPr lang="ru-RU" sz="2000" dirty="0"/>
              <a:t>память имеет </a:t>
            </a:r>
            <a:r>
              <a:rPr lang="ru-RU" sz="2000" b="1" dirty="0"/>
              <a:t>ограниченное количество циклов записи и со временем изнашивается</a:t>
            </a:r>
            <a:r>
              <a:rPr lang="ru-RU" sz="2000" dirty="0"/>
              <a:t>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F10725-3ACA-FDDB-E060-624E64039CD2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38780172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5E5FFA-D454-672A-1225-AF2BA2A7C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8BDEE14-1A5E-C809-0EBF-A1AF0E8F1E08}"/>
              </a:ext>
            </a:extLst>
          </p:cNvPr>
          <p:cNvSpPr txBox="1"/>
          <p:nvPr/>
        </p:nvSpPr>
        <p:spPr>
          <a:xfrm>
            <a:off x="640080" y="411480"/>
            <a:ext cx="2702984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en" sz="3000" b="1" dirty="0"/>
              <a:t>CMOS-</a:t>
            </a:r>
            <a:r>
              <a:rPr lang="ru-RU" sz="3000" b="1" dirty="0"/>
              <a:t>память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5DE647-2665-09E4-CAAA-0C80D1A5FF9F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503F9D-EEAE-521E-D152-FEDB2C5818D0}"/>
              </a:ext>
            </a:extLst>
          </p:cNvPr>
          <p:cNvSpPr txBox="1"/>
          <p:nvPr/>
        </p:nvSpPr>
        <p:spPr>
          <a:xfrm>
            <a:off x="777240" y="1600200"/>
            <a:ext cx="10607040" cy="175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Многие компьютеры используют </a:t>
            </a:r>
            <a:r>
              <a:rPr lang="en" sz="2000" b="1" dirty="0"/>
              <a:t>CMOS-</a:t>
            </a:r>
            <a:r>
              <a:rPr lang="ru-RU" sz="2000" b="1" dirty="0"/>
              <a:t>память (</a:t>
            </a:r>
            <a:r>
              <a:rPr lang="en" sz="2000" b="1" dirty="0"/>
              <a:t>Complementary Metal-Oxide-Semiconductor — </a:t>
            </a:r>
            <a:r>
              <a:rPr lang="ru-RU" sz="2000" b="1" dirty="0"/>
              <a:t>комплементарный металл-оксид-полупроводник)</a:t>
            </a:r>
            <a:r>
              <a:rPr lang="ru-RU" sz="2000" dirty="0"/>
              <a:t> для хранения </a:t>
            </a:r>
            <a:r>
              <a:rPr lang="ru-RU" sz="2000" b="1" dirty="0"/>
              <a:t>текущего времени и даты</a:t>
            </a:r>
            <a:r>
              <a:rPr lang="ru-RU" sz="2000" dirty="0"/>
              <a:t>, а также </a:t>
            </a:r>
            <a:r>
              <a:rPr lang="ru-RU" sz="2000" b="1" dirty="0"/>
              <a:t>параметров конфигурации</a:t>
            </a:r>
            <a:r>
              <a:rPr lang="ru-RU" sz="2000" dirty="0"/>
              <a:t> компьютера.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Например, </a:t>
            </a:r>
            <a:r>
              <a:rPr lang="en" sz="2000" dirty="0"/>
              <a:t>CMOS </a:t>
            </a:r>
            <a:r>
              <a:rPr lang="ru-RU" sz="2000" dirty="0"/>
              <a:t>может хранить информацию о том, </a:t>
            </a:r>
            <a:r>
              <a:rPr lang="ru-RU" sz="2000" b="1" dirty="0"/>
              <a:t>с какого диска необходимо загружать операционную систему</a:t>
            </a:r>
            <a:r>
              <a:rPr lang="ru-RU" sz="2000" dirty="0"/>
              <a:t>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72AFE-CF11-187F-3B38-91B907887469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8444170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Cache hit и cache miss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CPU запрашивает данные.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Cache hit: нужная строка уже в кэше — быстро.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Cache miss: приходится обращаться к более медленному уровню памяти.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Вопросы ОС/архитектуры: что хранить, куда положить и что вытеснить?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Диски: почему чтение не мгновенное?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Seek time — перемещение головки к нужной дорожке.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Rotational latency — ожидание нужного положения сектора.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Transfer time — фактическая передача данных.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Итого: время операции зависит не только от объёма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F80DE-5FDB-7E55-1E53-C93DEC8BC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5775A6-0258-8C0F-FBDB-F29F2790B196}"/>
              </a:ext>
            </a:extLst>
          </p:cNvPr>
          <p:cNvSpPr txBox="1"/>
          <p:nvPr/>
        </p:nvSpPr>
        <p:spPr>
          <a:xfrm>
            <a:off x="640080" y="411480"/>
            <a:ext cx="8240269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Многопластинчатый </a:t>
            </a:r>
            <a:r>
              <a:rPr lang="en" sz="3000" b="1" dirty="0"/>
              <a:t>HDD (Multi-platter HDD)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CDFAD2-9419-D684-B660-74B1B3CFE070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0FD1A4-9F33-105C-6554-552DF01F6807}"/>
              </a:ext>
            </a:extLst>
          </p:cNvPr>
          <p:cNvSpPr txBox="1"/>
          <p:nvPr/>
        </p:nvSpPr>
        <p:spPr>
          <a:xfrm>
            <a:off x="777240" y="1600200"/>
            <a:ext cx="106070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dirty="0"/>
              <a:t>A. Platters</a:t>
            </a:r>
            <a:r>
              <a:rPr lang="en" dirty="0"/>
              <a:t> — </a:t>
            </a:r>
            <a:r>
              <a:rPr lang="ru-RU" b="1" dirty="0"/>
              <a:t>пластины (диски)</a:t>
            </a:r>
            <a:br>
              <a:rPr lang="ru-RU" dirty="0"/>
            </a:br>
            <a:r>
              <a:rPr lang="ru-RU" dirty="0"/>
              <a:t>Круглые магнитные диски, на которых хранятся данные.</a:t>
            </a:r>
          </a:p>
          <a:p>
            <a:r>
              <a:rPr lang="en" b="1" dirty="0"/>
              <a:t>B. Actuator arm</a:t>
            </a:r>
            <a:r>
              <a:rPr lang="en" dirty="0"/>
              <a:t> — </a:t>
            </a:r>
            <a:r>
              <a:rPr lang="ru-RU" b="1" dirty="0" err="1"/>
              <a:t>актуаторный</a:t>
            </a:r>
            <a:r>
              <a:rPr lang="ru-RU" b="1" dirty="0"/>
              <a:t> рычаг / рычаг привода</a:t>
            </a:r>
            <a:br>
              <a:rPr lang="ru-RU" dirty="0"/>
            </a:br>
            <a:r>
              <a:rPr lang="ru-RU" dirty="0"/>
              <a:t>Перемещает головки чтения/записи по поверхности пластин.</a:t>
            </a:r>
          </a:p>
          <a:p>
            <a:r>
              <a:rPr lang="en" b="1" dirty="0"/>
              <a:t>C. Read/write head</a:t>
            </a:r>
            <a:r>
              <a:rPr lang="en" dirty="0"/>
              <a:t> — </a:t>
            </a:r>
            <a:r>
              <a:rPr lang="ru-RU" b="1" dirty="0"/>
              <a:t>головка чтения/записи</a:t>
            </a:r>
            <a:br>
              <a:rPr lang="ru-RU" dirty="0"/>
            </a:br>
            <a:r>
              <a:rPr lang="ru-RU" dirty="0"/>
              <a:t>Считывает данные с диска и записывает данные на него.</a:t>
            </a:r>
          </a:p>
          <a:p>
            <a:r>
              <a:rPr lang="en" b="1" dirty="0"/>
              <a:t>D. Segment</a:t>
            </a:r>
            <a:r>
              <a:rPr lang="en" dirty="0"/>
              <a:t> — </a:t>
            </a:r>
            <a:r>
              <a:rPr lang="ru-RU" b="1" dirty="0"/>
              <a:t>сегмент</a:t>
            </a:r>
            <a:br>
              <a:rPr lang="ru-RU" dirty="0"/>
            </a:br>
            <a:r>
              <a:rPr lang="ru-RU" dirty="0"/>
              <a:t>Дуга на дорожке.</a:t>
            </a:r>
          </a:p>
          <a:p>
            <a:r>
              <a:rPr lang="en" b="1" dirty="0"/>
              <a:t>E. Track</a:t>
            </a:r>
            <a:r>
              <a:rPr lang="en" dirty="0"/>
              <a:t> — </a:t>
            </a:r>
            <a:r>
              <a:rPr lang="ru-RU" b="1" dirty="0"/>
              <a:t>дорожка</a:t>
            </a:r>
            <a:br>
              <a:rPr lang="ru-RU" dirty="0"/>
            </a:br>
            <a:r>
              <a:rPr lang="ru-RU" dirty="0"/>
              <a:t>Круговая линия на поверхности диска, на которой хранятся данные.</a:t>
            </a:r>
          </a:p>
          <a:p>
            <a:r>
              <a:rPr lang="en" b="1" dirty="0"/>
              <a:t>F. Sector</a:t>
            </a:r>
            <a:r>
              <a:rPr lang="en" dirty="0"/>
              <a:t> — </a:t>
            </a:r>
            <a:r>
              <a:rPr lang="ru-RU" b="1" dirty="0"/>
              <a:t>сектор</a:t>
            </a:r>
            <a:br>
              <a:rPr lang="ru-RU" dirty="0"/>
            </a:br>
            <a:r>
              <a:rPr lang="ru-RU" dirty="0"/>
              <a:t>Участок дорожки, содержащий определённый объём данных.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569AF5-48D5-919C-F38D-429E5EB88A7E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16</a:t>
            </a:r>
          </a:p>
        </p:txBody>
      </p:sp>
      <p:pic>
        <p:nvPicPr>
          <p:cNvPr id="7" name="Рисунок 6" descr="Изображение выглядит как круг, рисунок, искусство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FAF1BD8A-233C-5A7F-B946-B515346EE6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4983" y="1028580"/>
            <a:ext cx="3726937" cy="5417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14636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7CE743-2C70-499E-1159-E9888F812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C60AD4-FD46-9F42-CE23-DA044E4B8356}"/>
              </a:ext>
            </a:extLst>
          </p:cNvPr>
          <p:cNvSpPr txBox="1"/>
          <p:nvPr/>
        </p:nvSpPr>
        <p:spPr>
          <a:xfrm>
            <a:off x="640080" y="411480"/>
            <a:ext cx="776847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Время чтения/записи с диска состоит из: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4E72AB-DC0C-E088-45F0-5C89223B0D47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79ADFB-4283-CB40-A42F-8AF347ECE5EC}"/>
              </a:ext>
            </a:extLst>
          </p:cNvPr>
          <p:cNvSpPr txBox="1"/>
          <p:nvPr/>
        </p:nvSpPr>
        <p:spPr>
          <a:xfrm>
            <a:off x="777240" y="1600200"/>
            <a:ext cx="645387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- </a:t>
            </a:r>
            <a:r>
              <a:rPr lang="en" b="1" dirty="0"/>
              <a:t>Seek time (</a:t>
            </a:r>
            <a:r>
              <a:rPr lang="ru-RU" b="1" dirty="0"/>
              <a:t>время поиска)</a:t>
            </a:r>
            <a:r>
              <a:rPr lang="ru-RU" dirty="0"/>
              <a:t> — время, необходимое для </a:t>
            </a:r>
            <a:r>
              <a:rPr lang="ru-RU" b="1" dirty="0"/>
              <a:t>физического перемещения головки чтения/записи</a:t>
            </a:r>
            <a:r>
              <a:rPr lang="ru-RU" dirty="0"/>
              <a:t> к нужной дорожке.</a:t>
            </a:r>
          </a:p>
          <a:p>
            <a:r>
              <a:rPr lang="ru-RU" b="1" dirty="0"/>
              <a:t>- </a:t>
            </a:r>
            <a:r>
              <a:rPr lang="en" b="1" dirty="0"/>
              <a:t>Rotation delay / Latency (</a:t>
            </a:r>
            <a:r>
              <a:rPr lang="ru-RU" b="1" dirty="0"/>
              <a:t>задержка вращения)</a:t>
            </a:r>
            <a:r>
              <a:rPr lang="ru-RU" dirty="0"/>
              <a:t> — время, необходимое диску, чтобы </a:t>
            </a:r>
            <a:r>
              <a:rPr lang="ru-RU" b="1" dirty="0"/>
              <a:t>повернуться до нужного положения</a:t>
            </a:r>
            <a:r>
              <a:rPr lang="ru-RU" dirty="0"/>
              <a:t>, при котором требуемые данные окажутся под головкой чтения/записи.</a:t>
            </a:r>
          </a:p>
          <a:p>
            <a:r>
              <a:rPr lang="ru-RU" b="1" dirty="0"/>
              <a:t>- </a:t>
            </a:r>
            <a:r>
              <a:rPr lang="en" b="1" dirty="0"/>
              <a:t>Transfer time / Data rate (</a:t>
            </a:r>
            <a:r>
              <a:rPr lang="ru-RU" b="1" dirty="0"/>
              <a:t>время передачи данных / скорость передачи)</a:t>
            </a:r>
            <a:r>
              <a:rPr lang="ru-RU" dirty="0"/>
              <a:t> — время, необходимое для того, чтобы </a:t>
            </a:r>
            <a:r>
              <a:rPr lang="ru-RU" b="1" dirty="0"/>
              <a:t>прочитать или записать данные</a:t>
            </a:r>
            <a:r>
              <a:rPr lang="ru-RU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4591FA-8BA6-88F2-1579-57B64540BAC9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16</a:t>
            </a:r>
          </a:p>
        </p:txBody>
      </p:sp>
      <p:pic>
        <p:nvPicPr>
          <p:cNvPr id="7" name="Рисунок 6" descr="Изображение выглядит как круг, рисунок, искусство, иллюстрац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7B95533F-EC61-B0CD-59AD-1024242560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4983" y="1028580"/>
            <a:ext cx="3726937" cy="5417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38053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I/O: контроллер и драйвер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Контроллер принимает команды ОС и управляет устройством.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Драйвер — часть ПО ОС, которая знает, как общаться с конкретным контроллером.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Драйвер работает в kernel mode.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Регистры устройства могут быть отдельными I/O-портами или отображаться в адресное пространство памяти.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Три способа сделать I/O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1. Busy waiting — постоянно опрашивать устройство. Просто, но CPU тратит время впустую.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2. Interrupt — устройство сообщает ОС о завершении операции. CPU может заниматься другой работой.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3. DMA — специальный контроллер переносит данные между устройством и памятью почти без постоянного участия CPU.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A402D5-447A-5206-A51E-05D788CD9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D5C4384-AEC2-AF90-45AA-86AC80A3C09E}"/>
              </a:ext>
            </a:extLst>
          </p:cNvPr>
          <p:cNvSpPr txBox="1"/>
          <p:nvPr/>
        </p:nvSpPr>
        <p:spPr>
          <a:xfrm>
            <a:off x="640080" y="411480"/>
            <a:ext cx="655307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3000" b="1" dirty="0">
                <a:latin typeface="Aptos" panose="020B0004020202020204" pitchFamily="34" charset="0"/>
              </a:rPr>
              <a:t>Драйвер устройства (</a:t>
            </a:r>
            <a:r>
              <a:rPr lang="en" sz="3000" b="1" dirty="0">
                <a:latin typeface="Aptos" panose="020B0004020202020204" pitchFamily="34" charset="0"/>
              </a:rPr>
              <a:t>Device Driver)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02C663-6380-26C7-85D2-8F196D1F4EB3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AA64F8-B599-90BA-3D0D-604FF908E8CD}"/>
              </a:ext>
            </a:extLst>
          </p:cNvPr>
          <p:cNvSpPr txBox="1"/>
          <p:nvPr/>
        </p:nvSpPr>
        <p:spPr>
          <a:xfrm>
            <a:off x="777240" y="1600200"/>
            <a:ext cx="10607040" cy="41190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b="1" dirty="0"/>
              <a:t>Драйвер устройства</a:t>
            </a:r>
            <a:r>
              <a:rPr lang="ru-RU" sz="2000" dirty="0"/>
              <a:t> — это программное обеспечение, которое взаимодействует с </a:t>
            </a:r>
            <a:r>
              <a:rPr lang="ru-RU" sz="2000" b="1" dirty="0"/>
              <a:t>контроллером</a:t>
            </a:r>
            <a:r>
              <a:rPr lang="ru-RU" sz="2000" dirty="0"/>
              <a:t>, отправляя ему команды и принимая от него ответы.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Драйвер должен быть встроен в </a:t>
            </a:r>
            <a:r>
              <a:rPr lang="ru-RU" sz="2000" b="1" dirty="0"/>
              <a:t>операционную систему</a:t>
            </a:r>
            <a:r>
              <a:rPr lang="ru-RU" sz="2000" dirty="0"/>
              <a:t>, чтобы он мог работать в </a:t>
            </a:r>
            <a:r>
              <a:rPr lang="ru-RU" sz="2000" b="1" dirty="0"/>
              <a:t>режиме ядра (</a:t>
            </a:r>
            <a:r>
              <a:rPr lang="en" sz="2000" b="1" dirty="0"/>
              <a:t>kernel mode)</a:t>
            </a:r>
            <a:r>
              <a:rPr lang="en" sz="2000" dirty="0"/>
              <a:t>.</a:t>
            </a:r>
            <a:endParaRPr lang="ru-RU" sz="2000" dirty="0"/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Каждый контроллер имеет небольшое количество </a:t>
            </a:r>
            <a:r>
              <a:rPr lang="ru-RU" sz="2000" b="1" dirty="0"/>
              <a:t>регистров</a:t>
            </a:r>
            <a:r>
              <a:rPr lang="ru-RU" sz="2000" dirty="0"/>
              <a:t>, которые используются для обмена информацией с ним.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Совокупность всех регистров устройств образует </a:t>
            </a:r>
            <a:r>
              <a:rPr lang="ru-RU" sz="2000" b="1" dirty="0"/>
              <a:t>пространство портов ввода-вывода (</a:t>
            </a:r>
            <a:r>
              <a:rPr lang="en" sz="2000" b="1" dirty="0"/>
              <a:t>I/O port space)</a:t>
            </a:r>
            <a:r>
              <a:rPr lang="en" sz="2000" dirty="0"/>
              <a:t>.</a:t>
            </a:r>
            <a:endParaRPr lang="ru-RU" sz="2000" dirty="0"/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В некоторых компьютерах регистры устройств </a:t>
            </a:r>
            <a:r>
              <a:rPr lang="ru-RU" sz="2000" b="1" dirty="0"/>
              <a:t>отображаются в адресное пространство операционной системы</a:t>
            </a:r>
            <a:r>
              <a:rPr lang="ru-RU" sz="2000" dirty="0"/>
              <a:t> (адреса, которые она может использовать).</a:t>
            </a:r>
          </a:p>
          <a:p>
            <a:pPr marL="342900" indent="-342900">
              <a:spcAft>
                <a:spcPts val="1000"/>
              </a:spcAft>
              <a:buFontTx/>
              <a:buChar char="-"/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Благодаря этому их можно </a:t>
            </a:r>
            <a:r>
              <a:rPr lang="ru-RU" sz="2000" b="1" dirty="0"/>
              <a:t>читать и записывать так же, как обычные слова памяти</a:t>
            </a:r>
            <a:r>
              <a:rPr lang="ru-RU" sz="2000" dirty="0"/>
              <a:t>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25AE95-A1BC-6199-D482-972C1912E31F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87063076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37E13E-28E6-0BC3-2565-50B3B1114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BECFA18-9980-457A-4C5C-C7DA96D26AF2}"/>
              </a:ext>
            </a:extLst>
          </p:cNvPr>
          <p:cNvSpPr txBox="1"/>
          <p:nvPr/>
        </p:nvSpPr>
        <p:spPr>
          <a:xfrm>
            <a:off x="640080" y="411480"/>
            <a:ext cx="451091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" sz="3000" b="1" dirty="0">
                <a:latin typeface="Aptos" panose="020B0004020202020204" pitchFamily="34" charset="0"/>
              </a:rPr>
              <a:t>Interrupt — </a:t>
            </a:r>
            <a:r>
              <a:rPr lang="ru-RU" sz="3000" b="1" dirty="0">
                <a:latin typeface="Aptos" panose="020B0004020202020204" pitchFamily="34" charset="0"/>
              </a:rPr>
              <a:t>прерывание</a:t>
            </a:r>
            <a:endParaRPr lang="en" sz="3000" b="1" dirty="0"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39EAB8-AAEF-31AC-DEFD-975F6F915CC9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E098F1-13A7-50E0-1331-F1F7391A02B8}"/>
              </a:ext>
            </a:extLst>
          </p:cNvPr>
          <p:cNvSpPr txBox="1"/>
          <p:nvPr/>
        </p:nvSpPr>
        <p:spPr>
          <a:xfrm>
            <a:off x="777240" y="1600200"/>
            <a:ext cx="106070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2000" b="1" dirty="0"/>
              <a:t>a) </a:t>
            </a:r>
            <a:r>
              <a:rPr lang="ru-RU" sz="2000" b="1" dirty="0"/>
              <a:t>Этапы запуска устройства ввода-вывода и получения прерывания.</a:t>
            </a:r>
            <a:endParaRPr lang="ru-RU" sz="2000" dirty="0"/>
          </a:p>
          <a:p>
            <a:r>
              <a:rPr lang="en" sz="2000" b="1" dirty="0"/>
              <a:t>b) </a:t>
            </a:r>
            <a:r>
              <a:rPr lang="ru-RU" sz="2000" b="1" dirty="0"/>
              <a:t>Обработка прерывания</a:t>
            </a:r>
            <a:r>
              <a:rPr lang="ru-RU" sz="2000" dirty="0"/>
              <a:t> включает:</a:t>
            </a:r>
          </a:p>
          <a:p>
            <a:r>
              <a:rPr lang="ru-RU" sz="2000" dirty="0"/>
              <a:t>получение прерывания;</a:t>
            </a:r>
          </a:p>
          <a:p>
            <a:r>
              <a:rPr lang="ru-RU" sz="2000" dirty="0"/>
              <a:t>запуск </a:t>
            </a:r>
            <a:r>
              <a:rPr lang="ru-RU" sz="2000" b="1" dirty="0"/>
              <a:t>обработчика прерывания (</a:t>
            </a:r>
            <a:r>
              <a:rPr lang="en" sz="2000" b="1" dirty="0"/>
              <a:t>interrupt handler)</a:t>
            </a:r>
            <a:r>
              <a:rPr lang="en" sz="2000" dirty="0"/>
              <a:t>;</a:t>
            </a:r>
          </a:p>
          <a:p>
            <a:r>
              <a:rPr lang="ru-RU" sz="2000" dirty="0"/>
              <a:t>возврат к </a:t>
            </a:r>
            <a:r>
              <a:rPr lang="ru-RU" sz="2000" b="1" dirty="0"/>
              <a:t>пользовательской программе</a:t>
            </a:r>
            <a:r>
              <a:rPr lang="ru-RU" sz="2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2A4086-63C6-BC4A-3311-1E8FDAF55172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17</a:t>
            </a:r>
          </a:p>
        </p:txBody>
      </p:sp>
      <p:pic>
        <p:nvPicPr>
          <p:cNvPr id="7" name="Рисунок 6" descr="Изображение выглядит как текст, диаграмма, Шрифт, линия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10C7F74-AEB0-17B6-6D69-72CF17B08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9573" y="3334021"/>
            <a:ext cx="9522373" cy="3009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2211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Interrupt: что происходит?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Драйвер запускает устройство.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CPU может переключиться на другую работу.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Контроллер завершает операцию и генерирует interrupt.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 запускает interrupt handler.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После обработки управление возвращается прерванной программе.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DMA: зачем он нужен?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CPU задаёт DMA: что, откуда и куда передать.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DMA переносит поток данных между памятью и контроллером.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После завершения DMA генерирует interrupt.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Идея: снять с CPU повторяющуюся работу по копированию больших объёмов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9355F-7BFB-72DB-ACDA-CD566799A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03D0D6-C9D8-97F5-D08D-B2F237322505}"/>
              </a:ext>
            </a:extLst>
          </p:cNvPr>
          <p:cNvSpPr txBox="1"/>
          <p:nvPr/>
        </p:nvSpPr>
        <p:spPr>
          <a:xfrm>
            <a:off x="640080" y="411480"/>
            <a:ext cx="967341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" sz="3000" dirty="0">
                <a:latin typeface="Aptos" panose="020B0004020202020204" pitchFamily="34" charset="0"/>
              </a:rPr>
              <a:t>Direct Memory Access (DMA) — </a:t>
            </a:r>
            <a:r>
              <a:rPr lang="ru-RU" sz="3000" dirty="0">
                <a:latin typeface="Aptos" panose="020B0004020202020204" pitchFamily="34" charset="0"/>
              </a:rPr>
              <a:t>прямой доступ к памяти</a:t>
            </a:r>
            <a:endParaRPr lang="en" sz="3000" b="1" dirty="0">
              <a:latin typeface="Aptos" panose="020B00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AF5691-74DE-B4C2-0C84-E664574DDFBA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9FF6F6-6A53-AF72-722F-64E2B128F180}"/>
              </a:ext>
            </a:extLst>
          </p:cNvPr>
          <p:cNvSpPr txBox="1"/>
          <p:nvPr/>
        </p:nvSpPr>
        <p:spPr>
          <a:xfrm>
            <a:off x="777240" y="1600200"/>
            <a:ext cx="106070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" sz="2000" b="1" dirty="0"/>
              <a:t>DMA</a:t>
            </a:r>
            <a:r>
              <a:rPr lang="en" sz="2000" dirty="0"/>
              <a:t> — </a:t>
            </a:r>
            <a:r>
              <a:rPr lang="ru-RU" sz="2000" dirty="0"/>
              <a:t>это микросхема, которая может управлять </a:t>
            </a:r>
            <a:r>
              <a:rPr lang="ru-RU" sz="2000" b="1" dirty="0"/>
              <a:t>потоком данных между оперативной памятью и некоторым контроллером</a:t>
            </a:r>
            <a:r>
              <a:rPr lang="ru-RU" sz="2000" dirty="0"/>
              <a:t> без постоянного участия процессора (</a:t>
            </a:r>
            <a:r>
              <a:rPr lang="en" sz="2000" b="1" dirty="0"/>
              <a:t>CPU</a:t>
            </a:r>
            <a:r>
              <a:rPr lang="en" sz="2000" dirty="0"/>
              <a:t>).</a:t>
            </a:r>
            <a:endParaRPr lang="ru-RU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Процессор настраивает </a:t>
            </a:r>
            <a:r>
              <a:rPr lang="en" sz="2000" b="1" dirty="0"/>
              <a:t>DMA-</a:t>
            </a:r>
            <a:r>
              <a:rPr lang="ru-RU" sz="2000" b="1" dirty="0"/>
              <a:t>контроллер</a:t>
            </a:r>
            <a:r>
              <a:rPr lang="ru-RU" sz="2000" dirty="0"/>
              <a:t>, сообщая ему, </a:t>
            </a:r>
            <a:r>
              <a:rPr lang="ru-RU" sz="2000" b="1" dirty="0"/>
              <a:t>какие данные, откуда и куда нужно передать</a:t>
            </a:r>
            <a:r>
              <a:rPr lang="ru-RU" sz="2000" dirty="0"/>
              <a:t>, а затем позволяет ему самостоятельно выполнить операцию.</a:t>
            </a:r>
          </a:p>
          <a:p>
            <a:pPr marL="342900" indent="-342900">
              <a:buFontTx/>
              <a:buChar char="-"/>
            </a:pPr>
            <a:r>
              <a:rPr lang="ru-RU" sz="2000" dirty="0"/>
              <a:t>Когда </a:t>
            </a:r>
            <a:r>
              <a:rPr lang="en" sz="2000" b="1" dirty="0"/>
              <a:t>DMA-</a:t>
            </a:r>
            <a:r>
              <a:rPr lang="ru-RU" sz="2000" b="1" dirty="0"/>
              <a:t>контроллер завершает передачу данных</a:t>
            </a:r>
            <a:r>
              <a:rPr lang="ru-RU" sz="2000" dirty="0"/>
              <a:t>, он генерирует </a:t>
            </a:r>
            <a:r>
              <a:rPr lang="ru-RU" sz="2000" b="1" dirty="0"/>
              <a:t>прерывание</a:t>
            </a:r>
            <a:r>
              <a:rPr lang="ru-RU" sz="2000" dirty="0"/>
              <a:t>, которое обрабатывается описанным выше способом.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766501-E95C-FD47-E209-61C89FF75FA9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rPr dirty="0"/>
              <a:t>17</a:t>
            </a:r>
          </a:p>
        </p:txBody>
      </p:sp>
      <p:pic>
        <p:nvPicPr>
          <p:cNvPr id="11" name="Рисунок 10" descr="Изображение выглядит как текст, диаграмма, линия, Шрифт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A3EEEBB6-1531-D3BD-42C0-5A327D569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348" y="3474217"/>
            <a:ext cx="7039303" cy="3200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40296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Шины и Plug &amp; Play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 err="1"/>
              <a:t>Шины</a:t>
            </a:r>
            <a:r>
              <a:rPr dirty="0"/>
              <a:t> </a:t>
            </a:r>
            <a:r>
              <a:rPr dirty="0" err="1"/>
              <a:t>соединяют</a:t>
            </a:r>
            <a:r>
              <a:rPr dirty="0"/>
              <a:t> CPU, </a:t>
            </a:r>
            <a:r>
              <a:rPr dirty="0" err="1"/>
              <a:t>память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устройства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 err="1"/>
              <a:t>Параллельная</a:t>
            </a:r>
            <a:r>
              <a:rPr dirty="0"/>
              <a:t> </a:t>
            </a:r>
            <a:r>
              <a:rPr dirty="0" err="1"/>
              <a:t>шина</a:t>
            </a:r>
            <a:r>
              <a:rPr dirty="0"/>
              <a:t> </a:t>
            </a:r>
            <a:r>
              <a:rPr dirty="0" err="1"/>
              <a:t>передаёт</a:t>
            </a:r>
            <a:r>
              <a:rPr dirty="0"/>
              <a:t> </a:t>
            </a:r>
            <a:r>
              <a:rPr dirty="0" err="1"/>
              <a:t>биты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нескольким</a:t>
            </a:r>
            <a:r>
              <a:rPr dirty="0"/>
              <a:t> </a:t>
            </a:r>
            <a:r>
              <a:rPr lang="ru-RU" dirty="0"/>
              <a:t>каналам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 err="1"/>
              <a:t>Последовательная</a:t>
            </a:r>
            <a:r>
              <a:rPr dirty="0"/>
              <a:t> —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одному</a:t>
            </a:r>
            <a:r>
              <a:rPr dirty="0"/>
              <a:t> </a:t>
            </a:r>
            <a:r>
              <a:rPr dirty="0" err="1"/>
              <a:t>соединению</a:t>
            </a:r>
            <a:r>
              <a:rPr dirty="0"/>
              <a:t>; </a:t>
            </a:r>
            <a:r>
              <a:rPr dirty="0" err="1"/>
              <a:t>несколько</a:t>
            </a:r>
            <a:r>
              <a:rPr dirty="0"/>
              <a:t> </a:t>
            </a:r>
            <a:r>
              <a:rPr lang="ru-RU" dirty="0"/>
              <a:t>линий</a:t>
            </a:r>
            <a:r>
              <a:rPr dirty="0"/>
              <a:t> </a:t>
            </a:r>
            <a:r>
              <a:rPr dirty="0" err="1"/>
              <a:t>дают</a:t>
            </a:r>
            <a:r>
              <a:rPr dirty="0"/>
              <a:t> </a:t>
            </a:r>
            <a:r>
              <a:rPr dirty="0" err="1"/>
              <a:t>параллелизм</a:t>
            </a:r>
            <a:r>
              <a:rPr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/>
              <a:t>Plug &amp; Play </a:t>
            </a:r>
            <a:r>
              <a:rPr dirty="0" err="1"/>
              <a:t>помогает</a:t>
            </a:r>
            <a:r>
              <a:rPr dirty="0"/>
              <a:t> </a:t>
            </a:r>
            <a:r>
              <a:rPr dirty="0" err="1"/>
              <a:t>автоматически</a:t>
            </a:r>
            <a:r>
              <a:rPr dirty="0"/>
              <a:t> </a:t>
            </a:r>
            <a:r>
              <a:rPr dirty="0" err="1"/>
              <a:t>назначать</a:t>
            </a:r>
            <a:r>
              <a:rPr dirty="0"/>
              <a:t> </a:t>
            </a:r>
            <a:r>
              <a:rPr dirty="0" err="1"/>
              <a:t>устройствам</a:t>
            </a:r>
            <a:r>
              <a:rPr dirty="0"/>
              <a:t> </a:t>
            </a:r>
            <a:r>
              <a:rPr dirty="0" err="1"/>
              <a:t>ресурсы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избегать</a:t>
            </a:r>
            <a:r>
              <a:rPr dirty="0"/>
              <a:t> </a:t>
            </a:r>
            <a:r>
              <a:rPr dirty="0" err="1"/>
              <a:t>конфликтов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238A40-79CE-36B2-5BC6-C1A45917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5317A4-2469-B705-2E9F-F1BB484C4B19}"/>
              </a:ext>
            </a:extLst>
          </p:cNvPr>
          <p:cNvSpPr txBox="1"/>
          <p:nvPr/>
        </p:nvSpPr>
        <p:spPr>
          <a:xfrm>
            <a:off x="640080" y="411480"/>
            <a:ext cx="267573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Шины (</a:t>
            </a:r>
            <a:r>
              <a:rPr lang="en" sz="3000" b="1" dirty="0"/>
              <a:t>Buses)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97C451-8AC4-D083-23BD-B312F1578594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FB04A-8BFE-267A-9C40-4AD900CAACC0}"/>
              </a:ext>
            </a:extLst>
          </p:cNvPr>
          <p:cNvSpPr txBox="1"/>
          <p:nvPr/>
        </p:nvSpPr>
        <p:spPr>
          <a:xfrm>
            <a:off x="777240" y="1600200"/>
            <a:ext cx="10607040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Система имеет </a:t>
            </a:r>
            <a:r>
              <a:rPr lang="ru-RU" sz="2000" b="1" dirty="0"/>
              <a:t>множество шин</a:t>
            </a:r>
            <a:r>
              <a:rPr lang="ru-RU" sz="2000" dirty="0"/>
              <a:t>, каждая из которых обладает </a:t>
            </a:r>
            <a:r>
              <a:rPr lang="ru-RU" sz="2000" b="1" dirty="0"/>
              <a:t>разной скоростью передачи данных и выполняет свою функцию</a:t>
            </a:r>
            <a:r>
              <a:rPr lang="ru-RU" sz="2000" dirty="0"/>
              <a:t>. 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Операционная система должна учитывать все эти шины для их </a:t>
            </a:r>
            <a:r>
              <a:rPr lang="ru-RU" sz="2000" b="1" dirty="0"/>
              <a:t>настройки и управления</a:t>
            </a:r>
            <a:r>
              <a:rPr lang="ru-RU" sz="2000"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b="1" dirty="0"/>
              <a:t>Архитектура с общей шиной (</a:t>
            </a:r>
            <a:r>
              <a:rPr lang="en" sz="2000" b="1" dirty="0"/>
              <a:t>shared bus architecture)</a:t>
            </a:r>
            <a:r>
              <a:rPr lang="en" sz="2000" dirty="0"/>
              <a:t> </a:t>
            </a:r>
            <a:r>
              <a:rPr lang="ru-RU" sz="2000" dirty="0"/>
              <a:t>означает, что </a:t>
            </a:r>
            <a:r>
              <a:rPr lang="ru-RU" sz="2000" b="1" dirty="0"/>
              <a:t>несколько устройств используют одни и те же линии связи (линии) для передачи данных</a:t>
            </a:r>
            <a:r>
              <a:rPr lang="ru-RU" sz="2000" dirty="0"/>
              <a:t>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lang="ru-RU" sz="2000" dirty="0"/>
              <a:t>В этом случае требуется </a:t>
            </a:r>
            <a:r>
              <a:rPr lang="ru-RU" sz="2000" b="1" dirty="0"/>
              <a:t>арбитр (</a:t>
            </a:r>
            <a:r>
              <a:rPr lang="en" sz="2000" b="1" dirty="0"/>
              <a:t>arbiter)</a:t>
            </a:r>
            <a:r>
              <a:rPr lang="en" sz="2000" dirty="0"/>
              <a:t>, </a:t>
            </a:r>
            <a:r>
              <a:rPr lang="ru-RU" sz="2000" dirty="0"/>
              <a:t>который определяет, </a:t>
            </a:r>
            <a:r>
              <a:rPr lang="ru-RU" sz="2000" b="1" dirty="0"/>
              <a:t>какое устройство может использовать шину в данный момент</a:t>
            </a:r>
            <a:r>
              <a:rPr lang="ru-RU" sz="2000" dirty="0"/>
              <a:t>.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57B2E0-94B8-65D6-5830-9FA73A300B88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7418394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4C7453-55C3-ACD1-7365-7AC25C2C1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51BD9FA-4309-1A4A-347E-E84431F47846}"/>
              </a:ext>
            </a:extLst>
          </p:cNvPr>
          <p:cNvSpPr txBox="1"/>
          <p:nvPr/>
        </p:nvSpPr>
        <p:spPr>
          <a:xfrm>
            <a:off x="640080" y="411480"/>
            <a:ext cx="267573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Шины (</a:t>
            </a:r>
            <a:r>
              <a:rPr lang="en" sz="3000" b="1" dirty="0"/>
              <a:t>Buses)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EF599D-5541-CA54-A8BF-A7649853ECC3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94044-E45E-F23B-1D3E-79E1FB32A1C3}"/>
              </a:ext>
            </a:extLst>
          </p:cNvPr>
          <p:cNvSpPr txBox="1"/>
          <p:nvPr/>
        </p:nvSpPr>
        <p:spPr>
          <a:xfrm>
            <a:off x="777240" y="1600200"/>
            <a:ext cx="1060704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Параллельная архитектура шины (</a:t>
            </a:r>
            <a:r>
              <a:rPr lang="en" sz="2000" b="1" dirty="0"/>
              <a:t>Parallel Bus Architecture)</a:t>
            </a:r>
          </a:p>
          <a:p>
            <a:r>
              <a:rPr lang="ru-RU" sz="2000" b="1" dirty="0"/>
              <a:t>- Параллельная архитектура шины</a:t>
            </a:r>
            <a:r>
              <a:rPr lang="ru-RU" sz="2000" dirty="0"/>
              <a:t> означает, что каждое </a:t>
            </a:r>
            <a:r>
              <a:rPr lang="ru-RU" sz="2000" b="1" dirty="0"/>
              <a:t>слово данных</a:t>
            </a:r>
            <a:r>
              <a:rPr lang="ru-RU" sz="2000" dirty="0"/>
              <a:t> передаётся одновременно по </a:t>
            </a:r>
            <a:r>
              <a:rPr lang="ru-RU" sz="2000" b="1" dirty="0"/>
              <a:t>нескольким линиям</a:t>
            </a:r>
            <a:r>
              <a:rPr lang="ru-RU" sz="2000" dirty="0"/>
              <a:t>.</a:t>
            </a:r>
          </a:p>
          <a:p>
            <a:r>
              <a:rPr lang="ru-RU" sz="2000" dirty="0"/>
              <a:t>- Например, в обычной шине </a:t>
            </a:r>
            <a:r>
              <a:rPr lang="en" sz="2000" b="1" dirty="0"/>
              <a:t>PCI</a:t>
            </a:r>
            <a:r>
              <a:rPr lang="en" sz="2000" dirty="0"/>
              <a:t> </a:t>
            </a:r>
            <a:r>
              <a:rPr lang="ru-RU" sz="2000" dirty="0"/>
              <a:t>одно число размером </a:t>
            </a:r>
            <a:r>
              <a:rPr lang="ru-RU" sz="2000" b="1" dirty="0"/>
              <a:t>32 бита</a:t>
            </a:r>
            <a:r>
              <a:rPr lang="ru-RU" sz="2000" dirty="0"/>
              <a:t> передаётся по </a:t>
            </a:r>
            <a:r>
              <a:rPr lang="ru-RU" sz="2000" b="1" dirty="0"/>
              <a:t>32 параллельным линиям (проводам)</a:t>
            </a:r>
            <a:r>
              <a:rPr lang="ru-RU" sz="2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C12EFE-F125-6791-9456-BECB4009DF47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21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7A590F84-89E3-AC10-11CF-B97E31947F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3234044"/>
            <a:ext cx="7772400" cy="8206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1D41A0-2329-4309-DE22-D92BAB84DD6D}"/>
              </a:ext>
            </a:extLst>
          </p:cNvPr>
          <p:cNvSpPr txBox="1"/>
          <p:nvPr/>
        </p:nvSpPr>
        <p:spPr>
          <a:xfrm>
            <a:off x="640080" y="4057471"/>
            <a:ext cx="932688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/>
              <a:t>Последовательная архитектура шины (</a:t>
            </a:r>
            <a:r>
              <a:rPr lang="en" b="1" dirty="0"/>
              <a:t>Serial Bus Architecture)</a:t>
            </a:r>
          </a:p>
          <a:p>
            <a:r>
              <a:rPr lang="ru-RU" b="1" dirty="0"/>
              <a:t>- Последовательная архитектура шины</a:t>
            </a:r>
            <a:r>
              <a:rPr lang="ru-RU" dirty="0"/>
              <a:t> передаёт все биты сообщения через </a:t>
            </a:r>
            <a:r>
              <a:rPr lang="ru-RU" b="1" dirty="0"/>
              <a:t>одно соединение</a:t>
            </a:r>
            <a:r>
              <a:rPr lang="ru-RU" dirty="0"/>
              <a:t>, которое называется </a:t>
            </a:r>
            <a:r>
              <a:rPr lang="ru-RU" b="1" dirty="0"/>
              <a:t>линией (</a:t>
            </a:r>
            <a:r>
              <a:rPr lang="en" b="1" dirty="0"/>
              <a:t>lane)</a:t>
            </a:r>
            <a:r>
              <a:rPr lang="en" dirty="0"/>
              <a:t>.</a:t>
            </a:r>
          </a:p>
          <a:p>
            <a:r>
              <a:rPr lang="ru-RU" dirty="0"/>
              <a:t>- При этом </a:t>
            </a:r>
            <a:r>
              <a:rPr lang="ru-RU" b="1" dirty="0"/>
              <a:t>параллелизм всё равно используется</a:t>
            </a:r>
            <a:r>
              <a:rPr lang="ru-RU" dirty="0"/>
              <a:t>, поскольку можно иметь </a:t>
            </a:r>
            <a:r>
              <a:rPr lang="ru-RU" b="1" dirty="0"/>
              <a:t>несколько линий, работающих параллельно</a:t>
            </a:r>
            <a:r>
              <a:rPr lang="ru-RU" dirty="0"/>
              <a:t>.</a:t>
            </a:r>
          </a:p>
          <a:p>
            <a:r>
              <a:rPr lang="ru-RU" dirty="0"/>
              <a:t>- Например, можно передавать </a:t>
            </a:r>
            <a:r>
              <a:rPr lang="ru-RU" b="1" dirty="0"/>
              <a:t>32 сообщения одновременно через 32 параллельные линии (</a:t>
            </a:r>
            <a:r>
              <a:rPr lang="en" b="1" dirty="0"/>
              <a:t>lane)</a:t>
            </a:r>
            <a:r>
              <a:rPr lang="en" dirty="0"/>
              <a:t>.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C198E11-C204-5CF4-C140-F65B40E2EB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8871" y="5909580"/>
            <a:ext cx="7772400" cy="603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2613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AEA498-56D8-EB5D-F8A5-6D72C6508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35767B-34F0-A121-65B5-FD7B797A97D0}"/>
              </a:ext>
            </a:extLst>
          </p:cNvPr>
          <p:cNvSpPr txBox="1"/>
          <p:nvPr/>
        </p:nvSpPr>
        <p:spPr>
          <a:xfrm>
            <a:off x="640080" y="411480"/>
            <a:ext cx="587853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Основные шины и интерфейсы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9E359DE-795E-B3E2-E22C-918FC61946B9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D03C15-B858-64DF-67D2-6EE69E811E6C}"/>
              </a:ext>
            </a:extLst>
          </p:cNvPr>
          <p:cNvSpPr txBox="1"/>
          <p:nvPr/>
        </p:nvSpPr>
        <p:spPr>
          <a:xfrm>
            <a:off x="777240" y="1600200"/>
            <a:ext cx="1060704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/>
              <a:t>- </a:t>
            </a:r>
            <a:r>
              <a:rPr lang="en" sz="2000" b="1" dirty="0"/>
              <a:t>Double Data Rate (DDR3, DDR4</a:t>
            </a:r>
            <a:r>
              <a:rPr lang="ru-RU" sz="2000" b="1" dirty="0"/>
              <a:t>, </a:t>
            </a:r>
            <a:r>
              <a:rPr lang="en-US" sz="2000" b="1" dirty="0"/>
              <a:t>DDR5</a:t>
            </a:r>
            <a:r>
              <a:rPr lang="en" sz="2000" b="1" dirty="0"/>
              <a:t>)</a:t>
            </a:r>
            <a:r>
              <a:rPr lang="en" sz="2000" dirty="0"/>
              <a:t> — </a:t>
            </a:r>
            <a:r>
              <a:rPr lang="ru-RU" sz="2000" dirty="0"/>
              <a:t>соединяет </a:t>
            </a:r>
            <a:r>
              <a:rPr lang="ru-RU" sz="2000" b="1" dirty="0"/>
              <a:t>процессор (</a:t>
            </a:r>
            <a:r>
              <a:rPr lang="en" sz="2000" b="1" dirty="0"/>
              <a:t>CPU) </a:t>
            </a:r>
            <a:r>
              <a:rPr lang="ru-RU" sz="2000" b="1" dirty="0"/>
              <a:t>и оперативную память (</a:t>
            </a:r>
            <a:r>
              <a:rPr lang="en" sz="2000" b="1" dirty="0"/>
              <a:t>RAM)</a:t>
            </a:r>
            <a:r>
              <a:rPr lang="en" sz="2000" dirty="0"/>
              <a:t>.</a:t>
            </a:r>
            <a:endParaRPr lang="ru-RU" sz="2000" dirty="0"/>
          </a:p>
          <a:p>
            <a:r>
              <a:rPr lang="ru-RU" sz="2000" b="1" dirty="0"/>
              <a:t>- </a:t>
            </a:r>
            <a:r>
              <a:rPr lang="en" sz="2000" b="1" dirty="0"/>
              <a:t>Peripheral Component Interconnect Express (PCIe)</a:t>
            </a:r>
            <a:r>
              <a:rPr lang="en" sz="2000" dirty="0"/>
              <a:t> — </a:t>
            </a:r>
            <a:r>
              <a:rPr lang="ru-RU" sz="2000" dirty="0"/>
              <a:t>шина для подключения </a:t>
            </a:r>
            <a:r>
              <a:rPr lang="ru-RU" sz="2000" b="1" dirty="0"/>
              <a:t>внешних графических устройств</a:t>
            </a:r>
            <a:r>
              <a:rPr lang="ru-RU" sz="2000" dirty="0"/>
              <a:t>, например видеокарты.</a:t>
            </a:r>
          </a:p>
          <a:p>
            <a:r>
              <a:rPr lang="ru-RU" sz="2000" b="1" dirty="0"/>
              <a:t>- </a:t>
            </a:r>
            <a:r>
              <a:rPr lang="en" sz="2000" b="1" dirty="0"/>
              <a:t>Direct Media Interface (DMI)</a:t>
            </a:r>
            <a:r>
              <a:rPr lang="en" sz="2000" dirty="0"/>
              <a:t> — </a:t>
            </a:r>
            <a:r>
              <a:rPr lang="ru-RU" sz="2000" dirty="0"/>
              <a:t>соединение между </a:t>
            </a:r>
            <a:r>
              <a:rPr lang="ru-RU" sz="2000" b="1" dirty="0"/>
              <a:t>северным и южным мостами</a:t>
            </a:r>
            <a:r>
              <a:rPr lang="ru-RU" sz="2000" dirty="0"/>
              <a:t>. Южный мост служит </a:t>
            </a:r>
            <a:r>
              <a:rPr lang="ru-RU" sz="2000" b="1" dirty="0"/>
              <a:t>центральным узлом для подключения остальных устройств</a:t>
            </a:r>
            <a:r>
              <a:rPr lang="ru-RU" sz="2000" dirty="0"/>
              <a:t>.</a:t>
            </a:r>
          </a:p>
          <a:p>
            <a:r>
              <a:rPr lang="ru-RU" sz="2000" b="1" dirty="0"/>
              <a:t>- </a:t>
            </a:r>
            <a:r>
              <a:rPr lang="en" sz="2000" b="1" dirty="0"/>
              <a:t>SCSI, SATA</a:t>
            </a:r>
            <a:r>
              <a:rPr lang="en" sz="2000" dirty="0"/>
              <a:t> — </a:t>
            </a:r>
            <a:r>
              <a:rPr lang="ru-RU" sz="2000" dirty="0"/>
              <a:t>интерфейсы для подключения </a:t>
            </a:r>
            <a:r>
              <a:rPr lang="ru-RU" sz="2000" b="1" dirty="0"/>
              <a:t>жёстких дисков и других накопителей</a:t>
            </a:r>
            <a:r>
              <a:rPr lang="ru-RU" sz="2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8F82AF-C3BC-4FC9-3A90-4AA23B897E02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267CA4-63C3-3319-78E8-85B4C3B12DB7}"/>
              </a:ext>
            </a:extLst>
          </p:cNvPr>
          <p:cNvSpPr txBox="1"/>
          <p:nvPr/>
        </p:nvSpPr>
        <p:spPr>
          <a:xfrm>
            <a:off x="640080" y="3846969"/>
            <a:ext cx="1056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" dirty="0"/>
          </a:p>
          <a:p>
            <a:r>
              <a:rPr lang="en" b="1" dirty="0"/>
              <a:t>Universal Serial Bus (USB) — </a:t>
            </a:r>
            <a:r>
              <a:rPr lang="ru-RU" b="1" dirty="0"/>
              <a:t>универсальная последовательная шина</a:t>
            </a:r>
          </a:p>
          <a:p>
            <a:r>
              <a:rPr lang="en" b="1" dirty="0"/>
              <a:t>USB</a:t>
            </a:r>
            <a:r>
              <a:rPr lang="en" dirty="0"/>
              <a:t> — </a:t>
            </a:r>
            <a:r>
              <a:rPr lang="ru-RU" dirty="0"/>
              <a:t>это </a:t>
            </a:r>
            <a:r>
              <a:rPr lang="ru-RU" b="1" dirty="0"/>
              <a:t>централизованная шина</a:t>
            </a:r>
            <a:r>
              <a:rPr lang="ru-RU" dirty="0"/>
              <a:t>, в которой </a:t>
            </a:r>
            <a:r>
              <a:rPr lang="ru-RU" b="1" dirty="0"/>
              <a:t>корневое устройство (</a:t>
            </a:r>
            <a:r>
              <a:rPr lang="en" b="1" dirty="0"/>
              <a:t>root device)</a:t>
            </a:r>
            <a:r>
              <a:rPr lang="en" dirty="0"/>
              <a:t> </a:t>
            </a:r>
            <a:r>
              <a:rPr lang="ru-RU" dirty="0"/>
              <a:t>по очереди опрашивает все устройства </a:t>
            </a:r>
            <a:r>
              <a:rPr lang="ru-RU" b="1" dirty="0"/>
              <a:t>ввода-вывода (</a:t>
            </a:r>
            <a:r>
              <a:rPr lang="en" b="1" dirty="0"/>
              <a:t>I/O)</a:t>
            </a:r>
            <a:r>
              <a:rPr lang="en" dirty="0"/>
              <a:t>, </a:t>
            </a:r>
            <a:r>
              <a:rPr lang="ru-RU" dirty="0"/>
              <a:t>чтобы проверить, есть ли у них данные для передачи.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0547534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AF47B3-4764-1BCE-2D83-39A2CADA2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46A425-6C2D-E926-B912-6913B1ADA35A}"/>
              </a:ext>
            </a:extLst>
          </p:cNvPr>
          <p:cNvSpPr txBox="1"/>
          <p:nvPr/>
        </p:nvSpPr>
        <p:spPr>
          <a:xfrm>
            <a:off x="640080" y="411480"/>
            <a:ext cx="6923947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en" sz="3000" b="1" dirty="0"/>
              <a:t>Plug and Play («</a:t>
            </a:r>
            <a:r>
              <a:rPr lang="ru-RU" sz="3000" b="1" dirty="0"/>
              <a:t>подключи и работай»)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C7C1CD-D01C-7C85-718C-B4C7BB09C36F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F59016-99BB-0B8B-E460-C75C942C2CD6}"/>
              </a:ext>
            </a:extLst>
          </p:cNvPr>
          <p:cNvSpPr txBox="1"/>
          <p:nvPr/>
        </p:nvSpPr>
        <p:spPr>
          <a:xfrm>
            <a:off x="777240" y="1600200"/>
            <a:ext cx="10607040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ru-RU" sz="2000" dirty="0"/>
              <a:t>До появления технологии </a:t>
            </a:r>
            <a:r>
              <a:rPr lang="en" sz="2000" b="1" dirty="0"/>
              <a:t>Plug and Play</a:t>
            </a:r>
            <a:r>
              <a:rPr lang="en" sz="2000" dirty="0"/>
              <a:t> </a:t>
            </a:r>
            <a:r>
              <a:rPr lang="ru-RU" sz="2000" dirty="0"/>
              <a:t>каждая карта ввода-вывода (</a:t>
            </a:r>
            <a:r>
              <a:rPr lang="en" sz="2000" b="1" dirty="0"/>
              <a:t>I/O card</a:t>
            </a:r>
            <a:r>
              <a:rPr lang="en" sz="2000" dirty="0"/>
              <a:t>) </a:t>
            </a:r>
            <a:r>
              <a:rPr lang="ru-RU" sz="2000" dirty="0"/>
              <a:t>имела </a:t>
            </a:r>
            <a:r>
              <a:rPr lang="ru-RU" sz="2000" b="1" dirty="0"/>
              <a:t>фиксированный уровень запроса прерывания (</a:t>
            </a:r>
            <a:r>
              <a:rPr lang="en" sz="2000" b="1" dirty="0"/>
              <a:t>IRQ)</a:t>
            </a:r>
            <a:r>
              <a:rPr lang="en" sz="2000" dirty="0"/>
              <a:t> </a:t>
            </a:r>
            <a:r>
              <a:rPr lang="ru-RU" sz="2000" dirty="0"/>
              <a:t>и фиксированные адреса для своих регистров ввода-вывода.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ru-RU" sz="2000" dirty="0"/>
              <a:t>Два разных аппаратных устройства могли использовать </a:t>
            </a:r>
            <a:r>
              <a:rPr lang="ru-RU" sz="2000" b="1" dirty="0"/>
              <a:t>одно и то же прерывание</a:t>
            </a:r>
            <a:r>
              <a:rPr lang="ru-RU" sz="2000" dirty="0"/>
              <a:t>, из-за чего возникал </a:t>
            </a:r>
            <a:r>
              <a:rPr lang="ru-RU" sz="2000" b="1" dirty="0"/>
              <a:t>конфликт устройств</a:t>
            </a:r>
            <a:r>
              <a:rPr lang="ru-RU" sz="2000" dirty="0"/>
              <a:t>.</a:t>
            </a:r>
            <a:endParaRPr lang="en-US" sz="2000" dirty="0"/>
          </a:p>
          <a:p>
            <a:pPr marL="342900" indent="-342900">
              <a:buFontTx/>
              <a:buChar char="-"/>
            </a:pPr>
            <a:r>
              <a:rPr lang="en" sz="2000" b="1" dirty="0"/>
              <a:t>Plug and Play</a:t>
            </a:r>
            <a:r>
              <a:rPr lang="en" sz="2000" dirty="0"/>
              <a:t> </a:t>
            </a:r>
            <a:r>
              <a:rPr lang="ru-RU" sz="2000" dirty="0"/>
              <a:t>позволяет системе автоматически:</a:t>
            </a:r>
            <a:r>
              <a:rPr lang="en-US" sz="2000" dirty="0"/>
              <a:t> </a:t>
            </a:r>
            <a:r>
              <a:rPr lang="ru-RU" sz="2000" dirty="0"/>
              <a:t>собрать информацию обо всех устройствах ввода-вывода;</a:t>
            </a:r>
            <a:r>
              <a:rPr lang="en-US" sz="2000" dirty="0"/>
              <a:t> </a:t>
            </a:r>
            <a:r>
              <a:rPr lang="ru-RU" sz="2000" dirty="0"/>
              <a:t>централизованно назначить </a:t>
            </a:r>
            <a:r>
              <a:rPr lang="ru-RU" sz="2000" b="1" dirty="0"/>
              <a:t>уровни прерываний (</a:t>
            </a:r>
            <a:r>
              <a:rPr lang="en" sz="2000" b="1" dirty="0"/>
              <a:t>IRQ)</a:t>
            </a:r>
            <a:r>
              <a:rPr lang="en" sz="2000" dirty="0"/>
              <a:t> </a:t>
            </a:r>
            <a:r>
              <a:rPr lang="ru-RU" sz="2000" dirty="0"/>
              <a:t>и </a:t>
            </a:r>
            <a:r>
              <a:rPr lang="ru-RU" sz="2000" b="1" dirty="0"/>
              <a:t>адреса ввода-вывода (</a:t>
            </a:r>
            <a:r>
              <a:rPr lang="en" sz="2000" b="1" dirty="0"/>
              <a:t>I/O addresses)</a:t>
            </a:r>
            <a:r>
              <a:rPr lang="en" sz="2000" dirty="0"/>
              <a:t>; </a:t>
            </a:r>
            <a:r>
              <a:rPr lang="ru-RU" sz="2000" dirty="0"/>
              <a:t>сообщить каждой карте, </a:t>
            </a:r>
            <a:r>
              <a:rPr lang="ru-RU" sz="2000" b="1" dirty="0"/>
              <a:t>какие номера и адреса ей назначены</a:t>
            </a:r>
            <a:r>
              <a:rPr lang="ru-RU" sz="20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88E5DE7-0D07-9808-2DC0-3CD26B25DA8E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3637343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Как компьютер загружается?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1. BIOS стартует и выполняет POST.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2. Сканируются шины и выбирается загрузочное устройство.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3. Загружается boot sector.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4. Запускается вторичный загрузчик.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5. Загружается ядро ОС и драйверы.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6. Инициализируются таблицы и фоновые процессы → появляется login/GUI.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FA05D6-2D57-CFF3-A20C-10C1C89FE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6C3EA8-5B9C-23D7-F108-2F39FDAC8996}"/>
              </a:ext>
            </a:extLst>
          </p:cNvPr>
          <p:cNvSpPr txBox="1"/>
          <p:nvPr/>
        </p:nvSpPr>
        <p:spPr>
          <a:xfrm>
            <a:off x="640080" y="411480"/>
            <a:ext cx="2375971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en" sz="3000" b="1" dirty="0"/>
              <a:t>BIOS </a:t>
            </a:r>
            <a:r>
              <a:rPr lang="ru-RU" sz="3000" b="1" dirty="0"/>
              <a:t>и </a:t>
            </a:r>
            <a:r>
              <a:rPr lang="en" sz="3000" b="1" dirty="0"/>
              <a:t>POST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59CB816-2BFB-A6B5-12AC-F15025228C3C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212B46-AFA4-8740-9CD2-F7E0605A3F7F}"/>
              </a:ext>
            </a:extLst>
          </p:cNvPr>
          <p:cNvSpPr txBox="1"/>
          <p:nvPr/>
        </p:nvSpPr>
        <p:spPr>
          <a:xfrm>
            <a:off x="777240" y="1600200"/>
            <a:ext cx="106070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" b="1" dirty="0"/>
              <a:t>BIOS (Basic Input/Output System — </a:t>
            </a:r>
            <a:r>
              <a:rPr lang="ru-RU" b="1" dirty="0"/>
              <a:t>базовая система ввода-вывода)</a:t>
            </a:r>
            <a:r>
              <a:rPr lang="ru-RU" dirty="0"/>
              <a:t> — это программа, расположенная на </a:t>
            </a:r>
            <a:r>
              <a:rPr lang="ru-RU" b="1" dirty="0"/>
              <a:t>материнской плате</a:t>
            </a:r>
            <a:r>
              <a:rPr lang="ru-RU" dirty="0"/>
              <a:t>, которая содержит программное обеспечение для выполнения </a:t>
            </a:r>
            <a:r>
              <a:rPr lang="ru-RU" b="1" dirty="0"/>
              <a:t>низкоуровневых операций ввода-вывода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dirty="0"/>
              <a:t>После запуска </a:t>
            </a:r>
            <a:r>
              <a:rPr lang="en" dirty="0"/>
              <a:t>BIOS </a:t>
            </a:r>
            <a:r>
              <a:rPr lang="ru-RU" dirty="0"/>
              <a:t>выполняет </a:t>
            </a:r>
            <a:r>
              <a:rPr lang="en" b="1" dirty="0"/>
              <a:t>POST (Power-On Self-Test — </a:t>
            </a:r>
            <a:r>
              <a:rPr lang="ru-RU" b="1" dirty="0"/>
              <a:t>самотестирование при включении питания)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" dirty="0"/>
              <a:t>POST </a:t>
            </a:r>
            <a:r>
              <a:rPr lang="ru-RU" dirty="0"/>
              <a:t>проверяет:</a:t>
            </a:r>
            <a:r>
              <a:rPr lang="en-US" dirty="0"/>
              <a:t> </a:t>
            </a:r>
            <a:r>
              <a:rPr lang="ru-RU" b="1" dirty="0"/>
              <a:t>целостность системы</a:t>
            </a:r>
            <a:r>
              <a:rPr lang="ru-RU" dirty="0"/>
              <a:t>;</a:t>
            </a:r>
            <a:r>
              <a:rPr lang="en-US" dirty="0"/>
              <a:t> </a:t>
            </a:r>
            <a:r>
              <a:rPr lang="ru-RU" b="1" dirty="0"/>
              <a:t>объём установленной оперативной памяти (</a:t>
            </a:r>
            <a:r>
              <a:rPr lang="en" b="1" dirty="0"/>
              <a:t>RAM)</a:t>
            </a:r>
            <a:r>
              <a:rPr lang="en" dirty="0"/>
              <a:t>; </a:t>
            </a:r>
            <a:r>
              <a:rPr lang="ru-RU" dirty="0"/>
              <a:t>наличие других основных устройств;</a:t>
            </a:r>
            <a:r>
              <a:rPr lang="en-US" dirty="0"/>
              <a:t> </a:t>
            </a:r>
            <a:r>
              <a:rPr lang="ru-RU" dirty="0"/>
              <a:t>правильно ли эти устройства </a:t>
            </a:r>
            <a:r>
              <a:rPr lang="ru-RU" b="1" dirty="0"/>
              <a:t>работают и отвечают на запросы</a:t>
            </a:r>
            <a:r>
              <a:rPr lang="ru-RU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45CB64-D508-D07F-728E-B7E48589DABF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6869881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9F0AED-7BBE-F51B-5B3B-2D51A0264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3A13FA-F9DD-D5B7-7A27-F9446BFC6062}"/>
              </a:ext>
            </a:extLst>
          </p:cNvPr>
          <p:cNvSpPr txBox="1"/>
          <p:nvPr/>
        </p:nvSpPr>
        <p:spPr>
          <a:xfrm>
            <a:off x="640080" y="411480"/>
            <a:ext cx="1083822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Обнаружение устройств и выбор загрузочного устройства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AEA3A39-C28D-B93E-C878-83695A41DCF8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A5DFC3-B1C7-B339-A15F-AD9B4B409821}"/>
              </a:ext>
            </a:extLst>
          </p:cNvPr>
          <p:cNvSpPr txBox="1"/>
          <p:nvPr/>
        </p:nvSpPr>
        <p:spPr>
          <a:xfrm>
            <a:off x="777240" y="1600200"/>
            <a:ext cx="1060704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/>
              <a:t>Сначала система </a:t>
            </a:r>
            <a:r>
              <a:rPr lang="ru-RU" b="1" dirty="0"/>
              <a:t>сканирует шины</a:t>
            </a:r>
            <a:r>
              <a:rPr lang="ru-RU" dirty="0"/>
              <a:t>, чтобы обнаружить все устройства, подключённые к ним.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dirty="0"/>
              <a:t>Затем она определяет </a:t>
            </a:r>
            <a:r>
              <a:rPr lang="ru-RU" b="1" dirty="0"/>
              <a:t>загрузочное устройство (</a:t>
            </a:r>
            <a:r>
              <a:rPr lang="en" b="1" dirty="0"/>
              <a:t>boot device)</a:t>
            </a:r>
            <a:r>
              <a:rPr lang="en" dirty="0"/>
              <a:t>, </a:t>
            </a:r>
            <a:r>
              <a:rPr lang="ru-RU" dirty="0"/>
              <a:t>проверяя список устройств, сохранённый в </a:t>
            </a:r>
            <a:r>
              <a:rPr lang="en" b="1" dirty="0"/>
              <a:t>CMOS-</a:t>
            </a:r>
            <a:r>
              <a:rPr lang="ru-RU" b="1" dirty="0"/>
              <a:t>памяти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en" b="1" dirty="0"/>
              <a:t>CMOS (Complementary Metal-Oxide-Semiconductor — </a:t>
            </a:r>
            <a:r>
              <a:rPr lang="ru-RU" b="1" dirty="0"/>
              <a:t>комплементарный металл-оксид-полупроводник)</a:t>
            </a:r>
            <a:r>
              <a:rPr lang="ru-RU" dirty="0"/>
              <a:t> — это </a:t>
            </a:r>
            <a:r>
              <a:rPr lang="ru-RU" b="1" dirty="0"/>
              <a:t>технология изготовления интегральных схем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b="1" dirty="0"/>
              <a:t>Загрузочный сектор (</a:t>
            </a:r>
            <a:r>
              <a:rPr lang="en" b="1" dirty="0"/>
              <a:t>boot sector)</a:t>
            </a:r>
            <a:r>
              <a:rPr lang="en" dirty="0"/>
              <a:t> — </a:t>
            </a:r>
            <a:r>
              <a:rPr lang="ru-RU" dirty="0"/>
              <a:t>первый сектор загрузочного устройства. Он </a:t>
            </a:r>
            <a:r>
              <a:rPr lang="ru-RU" b="1" dirty="0"/>
              <a:t>загружается в оперативную память и выполняется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dirty="0"/>
              <a:t>Этот сектор содержит программу, которая обычно </a:t>
            </a:r>
            <a:r>
              <a:rPr lang="ru-RU" b="1" dirty="0"/>
              <a:t>анализирует таблицу разделов (</a:t>
            </a:r>
            <a:r>
              <a:rPr lang="en" b="1" dirty="0"/>
              <a:t>partition table)</a:t>
            </a:r>
            <a:r>
              <a:rPr lang="en" dirty="0"/>
              <a:t>, </a:t>
            </a:r>
            <a:r>
              <a:rPr lang="ru-RU" dirty="0"/>
              <a:t>расположенную в конце загрузочного сектора, чтобы определить, </a:t>
            </a:r>
            <a:r>
              <a:rPr lang="ru-RU" b="1" dirty="0"/>
              <a:t>какой раздел является активным</a:t>
            </a:r>
            <a:r>
              <a:rPr lang="ru-RU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261B93-A732-DB47-B7AF-FD21C21754F9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684809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81CF83-1B3B-D36E-7615-230F987DC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2805BE-FC43-A835-519D-189F87042A7B}"/>
              </a:ext>
            </a:extLst>
          </p:cNvPr>
          <p:cNvSpPr txBox="1"/>
          <p:nvPr/>
        </p:nvSpPr>
        <p:spPr>
          <a:xfrm>
            <a:off x="640080" y="411480"/>
            <a:ext cx="4144083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2337"/>
                </a:solidFill>
                <a:latin typeface="Aptos"/>
              </a:defRPr>
            </a:pPr>
            <a:r>
              <a:rPr lang="ru-RU" sz="3000" b="1" dirty="0"/>
              <a:t>Вторичный загрузчик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42B735-391C-EC87-E8C5-75F7CA40C40D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F9A2EB-FAB2-1204-EAB6-6592A7F4B878}"/>
              </a:ext>
            </a:extLst>
          </p:cNvPr>
          <p:cNvSpPr txBox="1"/>
          <p:nvPr/>
        </p:nvSpPr>
        <p:spPr>
          <a:xfrm>
            <a:off x="777240" y="1600200"/>
            <a:ext cx="1060704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ru-RU" b="1" dirty="0"/>
              <a:t>Вторичный загрузчик (</a:t>
            </a:r>
            <a:r>
              <a:rPr lang="en" b="1" dirty="0"/>
              <a:t>secondary boot loader)</a:t>
            </a:r>
            <a:r>
              <a:rPr lang="en" dirty="0"/>
              <a:t> </a:t>
            </a:r>
            <a:r>
              <a:rPr lang="ru-RU" dirty="0"/>
              <a:t>загружается из этого раздела.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dirty="0"/>
              <a:t>Этот загрузчик </a:t>
            </a:r>
            <a:r>
              <a:rPr lang="ru-RU" b="1" dirty="0"/>
              <a:t>загружает операционную систему (</a:t>
            </a:r>
            <a:r>
              <a:rPr lang="en" b="1" dirty="0"/>
              <a:t>OS) </a:t>
            </a:r>
            <a:r>
              <a:rPr lang="ru-RU" b="1" dirty="0"/>
              <a:t>из активного раздела и запускает её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dirty="0"/>
              <a:t>После этого операционная система </a:t>
            </a:r>
            <a:r>
              <a:rPr lang="ru-RU" b="1" dirty="0"/>
              <a:t>обращается к </a:t>
            </a:r>
            <a:r>
              <a:rPr lang="en" b="1" dirty="0"/>
              <a:t>BIOS</a:t>
            </a:r>
            <a:r>
              <a:rPr lang="en" dirty="0"/>
              <a:t>, </a:t>
            </a:r>
            <a:r>
              <a:rPr lang="ru-RU" dirty="0"/>
              <a:t>чтобы получить информацию о </a:t>
            </a:r>
            <a:r>
              <a:rPr lang="ru-RU" b="1" dirty="0"/>
              <a:t>конфигурации компьютера</a:t>
            </a:r>
            <a:r>
              <a:rPr lang="ru-RU" dirty="0"/>
              <a:t>.</a:t>
            </a:r>
            <a:endParaRPr lang="en-US" dirty="0"/>
          </a:p>
          <a:p>
            <a:pPr marL="285750" indent="-285750">
              <a:buFontTx/>
              <a:buChar char="-"/>
            </a:pPr>
            <a:r>
              <a:rPr lang="ru-RU" dirty="0"/>
              <a:t>Для каждого устройства операционная система </a:t>
            </a:r>
            <a:r>
              <a:rPr lang="ru-RU" b="1" dirty="0"/>
              <a:t>проверяет, имеется ли для него соответствующий драйвер устройства (</a:t>
            </a:r>
            <a:r>
              <a:rPr lang="en" b="1" dirty="0"/>
              <a:t>device driver)</a:t>
            </a:r>
            <a:r>
              <a:rPr lang="en" dirty="0"/>
              <a:t>.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ADAB7-AFDD-63BB-E54A-13A47562103B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6145130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19F389-51AF-A836-B669-372B67D8E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F89676-DCD9-431B-41F9-80AC6321AE52}"/>
              </a:ext>
            </a:extLst>
          </p:cNvPr>
          <p:cNvSpPr txBox="1"/>
          <p:nvPr/>
        </p:nvSpPr>
        <p:spPr>
          <a:xfrm>
            <a:off x="640080" y="411480"/>
            <a:ext cx="606864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ru-RU" sz="3200" b="1" dirty="0"/>
              <a:t>Загрузка операционной системы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5E220A-7FCB-D808-32E6-C38AD7A5C597}"/>
              </a:ext>
            </a:extLst>
          </p:cNvPr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CB8D3-4F29-4879-B2AA-8EB29EF351F3}"/>
              </a:ext>
            </a:extLst>
          </p:cNvPr>
          <p:cNvSpPr txBox="1"/>
          <p:nvPr/>
        </p:nvSpPr>
        <p:spPr>
          <a:xfrm>
            <a:off x="777240" y="1600200"/>
            <a:ext cx="106070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ru-RU" dirty="0"/>
              <a:t>После того как операционная система получает </a:t>
            </a:r>
            <a:r>
              <a:rPr lang="ru-RU" b="1" dirty="0"/>
              <a:t>все необходимые драйверы устройств</a:t>
            </a:r>
            <a:r>
              <a:rPr lang="ru-RU" dirty="0"/>
              <a:t>, она </a:t>
            </a:r>
            <a:r>
              <a:rPr lang="ru-RU" b="1" dirty="0"/>
              <a:t>загружает их в ядро (</a:t>
            </a:r>
            <a:r>
              <a:rPr lang="en" b="1" dirty="0"/>
              <a:t>kernel)</a:t>
            </a:r>
            <a:r>
              <a:rPr lang="en" dirty="0"/>
              <a:t>.</a:t>
            </a:r>
          </a:p>
          <a:p>
            <a:pPr marL="285750" indent="-285750">
              <a:buFontTx/>
              <a:buChar char="-"/>
            </a:pPr>
            <a:r>
              <a:rPr lang="ru-RU" dirty="0"/>
              <a:t>Затем операционная система </a:t>
            </a:r>
            <a:r>
              <a:rPr lang="ru-RU" b="1" dirty="0"/>
              <a:t>инициализирует свои таблицы</a:t>
            </a:r>
            <a:r>
              <a:rPr lang="ru-RU" dirty="0"/>
              <a:t>, создаёт необходимые </a:t>
            </a:r>
            <a:r>
              <a:rPr lang="ru-RU" b="1" dirty="0"/>
              <a:t>фоновые процессы</a:t>
            </a:r>
            <a:r>
              <a:rPr lang="ru-RU" dirty="0"/>
              <a:t> и запускает </a:t>
            </a:r>
            <a:r>
              <a:rPr lang="ru-RU" b="1" dirty="0"/>
              <a:t>программу входа в систему (</a:t>
            </a:r>
            <a:r>
              <a:rPr lang="en" b="1" dirty="0"/>
              <a:t>login)</a:t>
            </a:r>
            <a:r>
              <a:rPr lang="en" dirty="0"/>
              <a:t> </a:t>
            </a:r>
            <a:r>
              <a:rPr lang="ru-RU" dirty="0"/>
              <a:t>или </a:t>
            </a:r>
            <a:r>
              <a:rPr lang="ru-RU" b="1" dirty="0"/>
              <a:t>графический интерфейс пользователя (</a:t>
            </a:r>
            <a:r>
              <a:rPr lang="en" b="1" dirty="0"/>
              <a:t>GUI)</a:t>
            </a:r>
            <a:r>
              <a:rPr lang="en" dirty="0"/>
              <a:t>.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63619-E4BD-4B53-96FA-D00A7AFAB80B}"/>
              </a:ext>
            </a:extLst>
          </p:cNvPr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1519486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«Зоопарк» операционных систем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Мейнфреймы — много заданий и большой объём I/O.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Серверные ОС — обслуживание множества пользователей по сети.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Персональные ОС — Windows, Linux, macOS и др.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Мобильные — Android, iOS.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Embedded — техника, автомобили, устройства.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Real-time — важны гарантии по времени реакции.</a:t>
            </a:r>
          </a:p>
          <a:p>
            <a:pPr>
              <a:spcAft>
                <a:spcPts val="1000"/>
              </a:spcAft>
              <a:defRPr sz="1800">
                <a:solidFill>
                  <a:srgbClr val="2D323C"/>
                </a:solidFill>
                <a:latin typeface="Aptos"/>
              </a:defRPr>
            </a:pPr>
            <a:r>
              <a:t>Сенсорные узлы и смарт-карты — специализированные малоресурсные системы.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ОС реального времени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Hard real-time: действие должно произойти к заданному сроку.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Soft real-time: пропуск дедлайна нежелателен, но допустим.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Ключевой вопрос: важнее средняя скорость или гарантированное время реакции?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Главное, что нужно запомнить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 = абстракция + управление ресурсами.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Kernel mode защищён и имеет полный доступ; user mode ограничен.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System call — путь из приложения в ядро.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Interrupt и DMA позволяют эффективно организовать I/O.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Иерархия памяти объясняет разницу между быстрым кэшем и медленным диском.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ОС сильно зависит от архитектуры компьютера.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Мини-квиз для аудитории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1. Почему приложение не должно напрямую управлять диском?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2. Чем kernel mode отличается от user mode?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3. Что произойдёт при cache miss?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4. Почему busy waiting неэффективен?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5. Зачем нужен DMA?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6. Чем hard real-time отличается от soft real-time?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Практическая мысль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Когда вы запускаете браузер и открываете файл, одновременно работают несколько механизмов: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CPU планирует выполнение → user mode вызывает ОС → kernel mode обращается к драйверу → I/O выполняется → interrupt/DMA сообщает о завершении → программа продолжает работу.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t>Именно эти механизмы будут основой следующих тем курса.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192337"/>
                </a:solidFill>
                <a:latin typeface="Aptos"/>
              </a:defRPr>
            </a:pPr>
            <a:r>
              <a:t>Источник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234440"/>
            <a:ext cx="1051560" cy="73152"/>
          </a:xfrm>
          <a:prstGeom prst="rect">
            <a:avLst/>
          </a:prstGeom>
          <a:solidFill>
            <a:srgbClr val="467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1060704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 err="1"/>
              <a:t>Основной</a:t>
            </a:r>
            <a:r>
              <a:rPr dirty="0"/>
              <a:t> </a:t>
            </a:r>
            <a:r>
              <a:rPr dirty="0" err="1"/>
              <a:t>учебник</a:t>
            </a:r>
            <a:r>
              <a:rPr dirty="0"/>
              <a:t>: Tanenbaum &amp; Bos, Modern Operating Systems, 4th ed., 2013.</a:t>
            </a:r>
          </a:p>
          <a:p>
            <a:pPr>
              <a:spcAft>
                <a:spcPts val="1000"/>
              </a:spcAft>
              <a:defRPr sz="2000">
                <a:solidFill>
                  <a:srgbClr val="2D323C"/>
                </a:solidFill>
                <a:latin typeface="Aptos"/>
              </a:defRPr>
            </a:pPr>
            <a:r>
              <a:rPr dirty="0" err="1"/>
              <a:t>Содержание</a:t>
            </a:r>
            <a:r>
              <a:rPr dirty="0"/>
              <a:t> </a:t>
            </a:r>
            <a:r>
              <a:rPr dirty="0" err="1"/>
              <a:t>и</a:t>
            </a:r>
            <a:r>
              <a:rPr dirty="0"/>
              <a:t> </a:t>
            </a:r>
            <a:r>
              <a:rPr dirty="0" err="1"/>
              <a:t>терминология</a:t>
            </a:r>
            <a:r>
              <a:rPr dirty="0"/>
              <a:t> </a:t>
            </a:r>
            <a:r>
              <a:rPr dirty="0" err="1"/>
              <a:t>сохранены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предоставленному</a:t>
            </a:r>
            <a:r>
              <a:rPr dirty="0"/>
              <a:t> </a:t>
            </a:r>
            <a:r>
              <a:rPr dirty="0" err="1"/>
              <a:t>материалу</a:t>
            </a:r>
            <a:r>
              <a:rPr dirty="0"/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87D87"/>
                </a:solidFill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3487</Words>
  <Application>Microsoft Macintosh PowerPoint</Application>
  <PresentationFormat>Широкоэкранный</PresentationFormat>
  <Paragraphs>379</Paragraphs>
  <Slides>57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57</vt:i4>
      </vt:variant>
    </vt:vector>
  </HeadingPairs>
  <TitlesOfParts>
    <vt:vector size="61" baseType="lpstr">
      <vt:lpstr>Aptos</vt:lpstr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NKT</cp:lastModifiedBy>
  <cp:revision>2</cp:revision>
  <dcterms:created xsi:type="dcterms:W3CDTF">2013-01-27T09:14:16Z</dcterms:created>
  <dcterms:modified xsi:type="dcterms:W3CDTF">2026-09-06T21:11:07Z</dcterms:modified>
  <cp:category/>
</cp:coreProperties>
</file>